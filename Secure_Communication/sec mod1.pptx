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5" r:id="rId2"/>
    <p:sldId id="286" r:id="rId3"/>
    <p:sldId id="256" r:id="rId4"/>
    <p:sldId id="257" r:id="rId5"/>
    <p:sldId id="258" r:id="rId6"/>
    <p:sldId id="259" r:id="rId7"/>
    <p:sldId id="260" r:id="rId8"/>
    <p:sldId id="261" r:id="rId9"/>
    <p:sldId id="265" r:id="rId10"/>
    <p:sldId id="262" r:id="rId11"/>
    <p:sldId id="263" r:id="rId12"/>
    <p:sldId id="264" r:id="rId13"/>
    <p:sldId id="266" r:id="rId14"/>
    <p:sldId id="267" r:id="rId15"/>
    <p:sldId id="268" r:id="rId16"/>
    <p:sldId id="269" r:id="rId17"/>
    <p:sldId id="270" r:id="rId18"/>
    <p:sldId id="271" r:id="rId19"/>
    <p:sldId id="272" r:id="rId20"/>
    <p:sldId id="273" r:id="rId21"/>
    <p:sldId id="284" r:id="rId22"/>
    <p:sldId id="274" r:id="rId23"/>
    <p:sldId id="275" r:id="rId24"/>
    <p:sldId id="276" r:id="rId25"/>
    <p:sldId id="277" r:id="rId26"/>
    <p:sldId id="278" r:id="rId27"/>
    <p:sldId id="279" r:id="rId28"/>
    <p:sldId id="280" r:id="rId29"/>
    <p:sldId id="281" r:id="rId30"/>
    <p:sldId id="282" r:id="rId31"/>
    <p:sldId id="28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E1AEA49-860C-4370-8344-E229D23CC2C5}">
          <p14:sldIdLst>
            <p14:sldId id="285"/>
            <p14:sldId id="286"/>
            <p14:sldId id="256"/>
            <p14:sldId id="257"/>
            <p14:sldId id="258"/>
            <p14:sldId id="259"/>
            <p14:sldId id="260"/>
            <p14:sldId id="261"/>
            <p14:sldId id="265"/>
            <p14:sldId id="262"/>
            <p14:sldId id="263"/>
            <p14:sldId id="264"/>
            <p14:sldId id="266"/>
            <p14:sldId id="267"/>
            <p14:sldId id="268"/>
            <p14:sldId id="269"/>
            <p14:sldId id="270"/>
            <p14:sldId id="271"/>
            <p14:sldId id="272"/>
            <p14:sldId id="273"/>
            <p14:sldId id="284"/>
            <p14:sldId id="274"/>
            <p14:sldId id="275"/>
            <p14:sldId id="276"/>
            <p14:sldId id="277"/>
            <p14:sldId id="278"/>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0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FD5D9-0124-46EC-985E-FF96F4A052A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601401-5FBF-4F4A-A28D-3193C7C2A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7A9CA98-4946-4FF5-848F-38BE435FE533}"/>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5" name="Footer Placeholder 4">
            <a:extLst>
              <a:ext uri="{FF2B5EF4-FFF2-40B4-BE49-F238E27FC236}">
                <a16:creationId xmlns:a16="http://schemas.microsoft.com/office/drawing/2014/main" id="{8D914569-E212-4D78-87DA-E3E91692D5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8E34FE9-BFD8-4527-8057-05845986184B}"/>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3439598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C844-2E84-4AF5-B037-E92349F687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9632D7-0FD4-4D9B-B99D-2B84AA1992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E8E4B0-1120-48E5-B121-C4F091BB9F03}"/>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5" name="Footer Placeholder 4">
            <a:extLst>
              <a:ext uri="{FF2B5EF4-FFF2-40B4-BE49-F238E27FC236}">
                <a16:creationId xmlns:a16="http://schemas.microsoft.com/office/drawing/2014/main" id="{B47AF275-8219-43DB-B476-836D72A8D82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7FE69B-3E55-4670-BBF1-0C02410784E7}"/>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18512629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6553F-B284-4BB2-8B6C-F5F02A13A6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FAAFD74-0B40-486E-BAD3-0CC1828EE76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CD79E6B-2121-492C-8C4A-7E7716D591E6}"/>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5" name="Footer Placeholder 4">
            <a:extLst>
              <a:ext uri="{FF2B5EF4-FFF2-40B4-BE49-F238E27FC236}">
                <a16:creationId xmlns:a16="http://schemas.microsoft.com/office/drawing/2014/main" id="{560819F7-C183-4955-A10B-5E350A2334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4A051D-48A2-476B-B9C2-4B88B271DD28}"/>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15517739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65ED7-0ABD-4117-977F-5DD76777D3A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15AD9D9-3532-4486-851B-768408B54CE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FDDA9C5-4503-4FD5-B4D6-9126E5033FD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CC7B6F-57A5-47C4-AB9B-905F742F6E8B}"/>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6" name="Footer Placeholder 5">
            <a:extLst>
              <a:ext uri="{FF2B5EF4-FFF2-40B4-BE49-F238E27FC236}">
                <a16:creationId xmlns:a16="http://schemas.microsoft.com/office/drawing/2014/main" id="{75896275-DE98-4103-ABB1-7B3F4D342A4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EEE97C-44F8-4247-840C-65686647E1A0}"/>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16213688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D933D-DB37-4965-847F-38CCEB4549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8F14164-07C0-4E72-926C-FDB70D426B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5FAB21-4DCE-444B-B960-3F6E9BD43B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6E168FF-1E81-457D-B309-C77BEFC370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EB828E3-3E99-4D09-8875-DA4E0E4E1D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963FB34-87F0-4256-AC1A-6441E00F3BB0}"/>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8" name="Footer Placeholder 7">
            <a:extLst>
              <a:ext uri="{FF2B5EF4-FFF2-40B4-BE49-F238E27FC236}">
                <a16:creationId xmlns:a16="http://schemas.microsoft.com/office/drawing/2014/main" id="{B0B1A7FD-1A21-405B-BA40-5459C7B6B34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B6110FA-E106-49ED-BE66-236590C64DA8}"/>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323253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11A36-D2C7-481D-85E3-E1237BA115D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E2A63D-2644-48CD-9381-44AB414B0C3A}"/>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4" name="Footer Placeholder 3">
            <a:extLst>
              <a:ext uri="{FF2B5EF4-FFF2-40B4-BE49-F238E27FC236}">
                <a16:creationId xmlns:a16="http://schemas.microsoft.com/office/drawing/2014/main" id="{E30FF0DB-C7C6-4645-8A83-5079D54E51E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121DF32-D148-4E2E-9252-C84995B9FF54}"/>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3676665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982D04-AFB9-4E9D-8F10-E592A6D5E13E}"/>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3" name="Footer Placeholder 2">
            <a:extLst>
              <a:ext uri="{FF2B5EF4-FFF2-40B4-BE49-F238E27FC236}">
                <a16:creationId xmlns:a16="http://schemas.microsoft.com/office/drawing/2014/main" id="{6AF249E5-A9C0-4171-A023-6BAA5238440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0AD8BDA-784C-4639-B1A2-AE99F8E9BCD2}"/>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242422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34E6-DA3A-4D62-A9F1-BCDF3C1AA34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607AB6-1880-498A-9282-7DFEC3F91B1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497C83B-53EB-46FE-8E7B-8E62E9A6E0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48130D-2B81-4009-8AE5-2F698F3CE593}"/>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6" name="Footer Placeholder 5">
            <a:extLst>
              <a:ext uri="{FF2B5EF4-FFF2-40B4-BE49-F238E27FC236}">
                <a16:creationId xmlns:a16="http://schemas.microsoft.com/office/drawing/2014/main" id="{018195FD-7264-421F-9107-04F892DD75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42E1B9-C730-4F53-9017-0340BFBD07DF}"/>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464247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4FB57-87E3-42A9-895F-044065B7D9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48EAD90-2AB0-4F67-A3F3-71F060472FC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EA7C42-4BC6-4DA1-B1F3-864F637E6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E561DA-9DF3-4881-9519-531AEF5F36BB}"/>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6" name="Footer Placeholder 5">
            <a:extLst>
              <a:ext uri="{FF2B5EF4-FFF2-40B4-BE49-F238E27FC236}">
                <a16:creationId xmlns:a16="http://schemas.microsoft.com/office/drawing/2014/main" id="{773854AB-B86A-430D-A654-B708E910CE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9E5F2D-7D37-430D-8445-13A46003D200}"/>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18164959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6324-08BC-43C3-AC16-D77326C9D2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F9691DC-E665-4570-8EF0-D4431428142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E3D42A-069D-48A4-9E48-59297E4963B3}"/>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5" name="Footer Placeholder 4">
            <a:extLst>
              <a:ext uri="{FF2B5EF4-FFF2-40B4-BE49-F238E27FC236}">
                <a16:creationId xmlns:a16="http://schemas.microsoft.com/office/drawing/2014/main" id="{062F9FC1-39B2-4507-AF94-E504CCAF64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9DC0DB-7C67-4730-8EB8-0A74427BE310}"/>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2519496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FE7588-272D-401A-BEFB-C23576C9DE8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A47F2C-D6F8-4FA3-B103-5B67ADF303E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E6DC0B1-C032-4AC2-B24B-DD40E30ADAEE}"/>
              </a:ext>
            </a:extLst>
          </p:cNvPr>
          <p:cNvSpPr>
            <a:spLocks noGrp="1"/>
          </p:cNvSpPr>
          <p:nvPr>
            <p:ph type="dt" sz="half" idx="10"/>
          </p:nvPr>
        </p:nvSpPr>
        <p:spPr/>
        <p:txBody>
          <a:bodyPr/>
          <a:lstStyle/>
          <a:p>
            <a:fld id="{C7FD8C2E-8839-4F97-B20A-7F9C633F11A3}" type="datetimeFigureOut">
              <a:rPr lang="en-IN" smtClean="0"/>
              <a:t>08-02-2023</a:t>
            </a:fld>
            <a:endParaRPr lang="en-IN"/>
          </a:p>
        </p:txBody>
      </p:sp>
      <p:sp>
        <p:nvSpPr>
          <p:cNvPr id="5" name="Footer Placeholder 4">
            <a:extLst>
              <a:ext uri="{FF2B5EF4-FFF2-40B4-BE49-F238E27FC236}">
                <a16:creationId xmlns:a16="http://schemas.microsoft.com/office/drawing/2014/main" id="{34B59969-ABC9-4A11-B6C8-E07D632709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2C68AC-BDF7-40D3-AD29-432E3816559B}"/>
              </a:ext>
            </a:extLst>
          </p:cNvPr>
          <p:cNvSpPr>
            <a:spLocks noGrp="1"/>
          </p:cNvSpPr>
          <p:nvPr>
            <p:ph type="sldNum" sz="quarter" idx="12"/>
          </p:nvPr>
        </p:nvSpPr>
        <p:spPr/>
        <p:txBody>
          <a:bodyPr/>
          <a:lstStyle/>
          <a:p>
            <a:fld id="{DAD6152F-199A-40DB-BD31-ACF723483CA2}" type="slidenum">
              <a:rPr lang="en-IN" smtClean="0"/>
              <a:t>‹#›</a:t>
            </a:fld>
            <a:endParaRPr lang="en-IN"/>
          </a:p>
        </p:txBody>
      </p:sp>
    </p:spTree>
    <p:extLst>
      <p:ext uri="{BB962C8B-B14F-4D97-AF65-F5344CB8AC3E}">
        <p14:creationId xmlns:p14="http://schemas.microsoft.com/office/powerpoint/2010/main" val="2386671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D01401-9E91-4A86-9F0E-3F4E6080B6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623FC6-C866-46A5-8349-A8EA26B993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FE10B6-FC44-4E45-A444-336DFFD545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FD8C2E-8839-4F97-B20A-7F9C633F11A3}" type="datetimeFigureOut">
              <a:rPr lang="en-IN" smtClean="0"/>
              <a:t>08-02-2023</a:t>
            </a:fld>
            <a:endParaRPr lang="en-IN"/>
          </a:p>
        </p:txBody>
      </p:sp>
      <p:sp>
        <p:nvSpPr>
          <p:cNvPr id="5" name="Footer Placeholder 4">
            <a:extLst>
              <a:ext uri="{FF2B5EF4-FFF2-40B4-BE49-F238E27FC236}">
                <a16:creationId xmlns:a16="http://schemas.microsoft.com/office/drawing/2014/main" id="{7645D9EE-2E43-4E2C-86E3-25158CBE33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72B5671-0CE2-4B8E-8E0A-6E025BD515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D6152F-199A-40DB-BD31-ACF723483CA2}" type="slidenum">
              <a:rPr lang="en-IN" smtClean="0"/>
              <a:t>‹#›</a:t>
            </a:fld>
            <a:endParaRPr lang="en-IN"/>
          </a:p>
        </p:txBody>
      </p:sp>
    </p:spTree>
    <p:extLst>
      <p:ext uri="{BB962C8B-B14F-4D97-AF65-F5344CB8AC3E}">
        <p14:creationId xmlns:p14="http://schemas.microsoft.com/office/powerpoint/2010/main" val="36992358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BF82-BD71-7AFC-51A1-8EEE59FF3382}"/>
              </a:ext>
            </a:extLst>
          </p:cNvPr>
          <p:cNvSpPr>
            <a:spLocks noGrp="1"/>
          </p:cNvSpPr>
          <p:nvPr>
            <p:ph type="title"/>
          </p:nvPr>
        </p:nvSpPr>
        <p:spPr/>
        <p:txBody>
          <a:bodyPr/>
          <a:lstStyle/>
          <a:p>
            <a:r>
              <a:rPr lang="en-IN" sz="1800" b="1" i="0" u="none" strike="noStrike" baseline="0" dirty="0">
                <a:solidFill>
                  <a:srgbClr val="FFFFFF"/>
                </a:solidFill>
                <a:latin typeface="BemboMTPro-ExtraBold"/>
              </a:rPr>
              <a:t>THE OSTHE </a:t>
            </a:r>
            <a:r>
              <a:rPr lang="en-IN" sz="3200" b="1" i="0" u="none" strike="noStrike" baseline="0" dirty="0">
                <a:solidFill>
                  <a:srgbClr val="FFFFFF"/>
                </a:solidFill>
                <a:latin typeface="Arial Black" panose="020B0A04020102020204" pitchFamily="34" charset="0"/>
              </a:rPr>
              <a:t>O</a:t>
            </a:r>
            <a:r>
              <a:rPr lang="en-IN" sz="3200" dirty="0">
                <a:latin typeface="Arial Black" panose="020B0A04020102020204" pitchFamily="34" charset="0"/>
              </a:rPr>
              <a:t>OSI security </a:t>
            </a:r>
            <a:r>
              <a:rPr lang="en-IN" sz="3200" dirty="0" err="1">
                <a:latin typeface="Arial Black" panose="020B0A04020102020204" pitchFamily="34" charset="0"/>
              </a:rPr>
              <a:t>architecture</a:t>
            </a:r>
            <a:r>
              <a:rPr lang="en-IN" sz="3200" b="1" i="0" u="none" strike="noStrike" baseline="0" dirty="0" err="1">
                <a:solidFill>
                  <a:srgbClr val="FFFFFF"/>
                </a:solidFill>
                <a:latin typeface="Arial Black" panose="020B0A04020102020204" pitchFamily="34" charset="0"/>
              </a:rPr>
              <a:t>TY</a:t>
            </a:r>
            <a:r>
              <a:rPr lang="en-IN" sz="3200" b="1" i="0" u="none" strike="noStrike" baseline="0" dirty="0">
                <a:solidFill>
                  <a:srgbClr val="FFFFFF"/>
                </a:solidFill>
                <a:latin typeface="Arial Black" panose="020B0A04020102020204" pitchFamily="34" charset="0"/>
              </a:rPr>
              <a:t> </a:t>
            </a:r>
            <a:r>
              <a:rPr lang="en-IN" sz="1800" b="1" i="0" u="none" strike="noStrike" baseline="0" dirty="0">
                <a:solidFill>
                  <a:srgbClr val="FFFFFF"/>
                </a:solidFill>
                <a:latin typeface="BemboMTPro-ExtraBold"/>
              </a:rPr>
              <a:t>ARCHITECTUREI SECURITY ARCHITECTURETHE OSI SECURITY ARCHITECTURE</a:t>
            </a:r>
            <a:endParaRPr lang="en-IN" dirty="0"/>
          </a:p>
        </p:txBody>
      </p:sp>
      <p:sp>
        <p:nvSpPr>
          <p:cNvPr id="3" name="Content Placeholder 2">
            <a:extLst>
              <a:ext uri="{FF2B5EF4-FFF2-40B4-BE49-F238E27FC236}">
                <a16:creationId xmlns:a16="http://schemas.microsoft.com/office/drawing/2014/main" id="{8940EF36-620A-BA3E-0336-2DE1357E8EDA}"/>
              </a:ext>
            </a:extLst>
          </p:cNvPr>
          <p:cNvSpPr>
            <a:spLocks noGrp="1"/>
          </p:cNvSpPr>
          <p:nvPr>
            <p:ph idx="1"/>
          </p:nvPr>
        </p:nvSpPr>
        <p:spPr>
          <a:xfrm>
            <a:off x="838200" y="1156996"/>
            <a:ext cx="10515600" cy="5019967"/>
          </a:xfrm>
        </p:spPr>
        <p:txBody>
          <a:bodyPr>
            <a:noAutofit/>
          </a:bodyPr>
          <a:lstStyle/>
          <a:p>
            <a:pPr algn="l"/>
            <a:r>
              <a:rPr lang="en-US" sz="2400" b="0" i="0" u="none" strike="noStrike" baseline="0" dirty="0">
                <a:latin typeface="TimesTenLTStd-Roman"/>
              </a:rPr>
              <a:t>The OSI security architecture is useful to managers as a way of organizing the task of providing security.</a:t>
            </a:r>
          </a:p>
          <a:p>
            <a:pPr algn="l"/>
            <a:r>
              <a:rPr lang="en-IN" sz="2400" b="0" i="0" u="none" strike="noStrike" baseline="0" dirty="0">
                <a:latin typeface="TimesTenLTStd-Roman"/>
              </a:rPr>
              <a:t>The OSI security architecture </a:t>
            </a:r>
            <a:r>
              <a:rPr lang="en-US" sz="2400" b="0" i="0" u="none" strike="noStrike" baseline="0" dirty="0">
                <a:latin typeface="TimesTenLTStd-Roman"/>
              </a:rPr>
              <a:t>focuses on security attacks, mechanisms, and services.</a:t>
            </a:r>
          </a:p>
          <a:p>
            <a:pPr marL="0" indent="0" algn="l">
              <a:buNone/>
            </a:pPr>
            <a:r>
              <a:rPr lang="en-US" sz="2400" b="0" i="0" u="none" strike="noStrike" baseline="0" dirty="0">
                <a:solidFill>
                  <a:srgbClr val="808080"/>
                </a:solidFill>
                <a:latin typeface="ZapfDingbatsStd"/>
              </a:rPr>
              <a:t>■ </a:t>
            </a:r>
            <a:r>
              <a:rPr lang="en-US" sz="2400" b="1" i="0" u="none" strike="noStrike" baseline="0" dirty="0">
                <a:solidFill>
                  <a:srgbClr val="000000"/>
                </a:solidFill>
                <a:latin typeface="TimesTenLTStd-Bold"/>
              </a:rPr>
              <a:t>Security attack: </a:t>
            </a:r>
            <a:r>
              <a:rPr lang="en-US" sz="2400" b="0" i="0" u="none" strike="noStrike" baseline="0" dirty="0">
                <a:solidFill>
                  <a:srgbClr val="000000"/>
                </a:solidFill>
                <a:latin typeface="TimesTenLTStd-Roman"/>
              </a:rPr>
              <a:t>Any action that compromises the security of information </a:t>
            </a:r>
            <a:r>
              <a:rPr lang="en-IN" sz="2400" b="0" i="0" u="none" strike="noStrike" baseline="0" dirty="0">
                <a:solidFill>
                  <a:srgbClr val="000000"/>
                </a:solidFill>
                <a:latin typeface="TimesTenLTStd-Roman"/>
              </a:rPr>
              <a:t>owned by an organization.</a:t>
            </a:r>
          </a:p>
          <a:p>
            <a:pPr marL="0" indent="0" algn="l">
              <a:buNone/>
            </a:pPr>
            <a:r>
              <a:rPr lang="en-US" sz="2400" b="0" i="0" u="none" strike="noStrike" baseline="0" dirty="0">
                <a:solidFill>
                  <a:srgbClr val="808080"/>
                </a:solidFill>
                <a:latin typeface="ZapfDingbatsStd"/>
              </a:rPr>
              <a:t>■ </a:t>
            </a:r>
            <a:r>
              <a:rPr lang="en-US" sz="2400" b="1" i="0" u="none" strike="noStrike" baseline="0" dirty="0">
                <a:solidFill>
                  <a:srgbClr val="000000"/>
                </a:solidFill>
                <a:latin typeface="TimesTenLTStd-Bold"/>
              </a:rPr>
              <a:t>Security mechanism: </a:t>
            </a:r>
            <a:r>
              <a:rPr lang="en-US" sz="2400" b="0" i="0" u="none" strike="noStrike" baseline="0" dirty="0">
                <a:solidFill>
                  <a:srgbClr val="000000"/>
                </a:solidFill>
                <a:latin typeface="TimesTenLTStd-Roman"/>
              </a:rPr>
              <a:t>A process (or a device incorporating such a process) that is designed to detect, prevent, or recover from a security attack.</a:t>
            </a:r>
          </a:p>
          <a:p>
            <a:pPr marL="0" indent="0" algn="l">
              <a:buNone/>
            </a:pPr>
            <a:r>
              <a:rPr lang="en-US" sz="2400" b="0" i="0" u="none" strike="noStrike" baseline="0" dirty="0">
                <a:solidFill>
                  <a:srgbClr val="808080"/>
                </a:solidFill>
                <a:latin typeface="ZapfDingbatsStd"/>
              </a:rPr>
              <a:t>■ </a:t>
            </a:r>
            <a:r>
              <a:rPr lang="en-US" sz="2400" b="1" i="0" u="none" strike="noStrike" baseline="0" dirty="0">
                <a:solidFill>
                  <a:srgbClr val="000000"/>
                </a:solidFill>
                <a:latin typeface="TimesTenLTStd-Bold"/>
              </a:rPr>
              <a:t>Security service: </a:t>
            </a:r>
            <a:r>
              <a:rPr lang="en-US" sz="2400" b="0" i="0" u="none" strike="noStrike" baseline="0" dirty="0">
                <a:solidFill>
                  <a:srgbClr val="000000"/>
                </a:solidFill>
                <a:latin typeface="TimesTenLTStd-Roman"/>
              </a:rPr>
              <a:t>A processing or communication service that enhances the security of the data processing systems and the information transfers of an organization. The services are intended to counter security attacks, and they make use of one or more security mechanisms to provide the service.</a:t>
            </a:r>
            <a:endParaRPr lang="en-IN" sz="2400" dirty="0"/>
          </a:p>
        </p:txBody>
      </p:sp>
    </p:spTree>
    <p:extLst>
      <p:ext uri="{BB962C8B-B14F-4D97-AF65-F5344CB8AC3E}">
        <p14:creationId xmlns:p14="http://schemas.microsoft.com/office/powerpoint/2010/main" val="1993980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196113-BF81-7DA5-A5C5-B12B78D2DAA3}"/>
              </a:ext>
            </a:extLst>
          </p:cNvPr>
          <p:cNvSpPr>
            <a:spLocks noGrp="1"/>
          </p:cNvSpPr>
          <p:nvPr>
            <p:ph idx="1"/>
          </p:nvPr>
        </p:nvSpPr>
        <p:spPr>
          <a:xfrm>
            <a:off x="838200" y="643812"/>
            <a:ext cx="10515600" cy="5533151"/>
          </a:xfrm>
        </p:spPr>
        <p:txBody>
          <a:bodyPr>
            <a:noAutofit/>
          </a:bodyPr>
          <a:lstStyle/>
          <a:p>
            <a:pPr algn="l"/>
            <a:r>
              <a:rPr lang="en-IN" b="1" i="0" u="none" strike="noStrike" baseline="0" dirty="0">
                <a:latin typeface="TimesTenLTStd-Bold"/>
              </a:rPr>
              <a:t>Threat</a:t>
            </a:r>
          </a:p>
          <a:p>
            <a:pPr marL="0" indent="0" algn="l">
              <a:buNone/>
            </a:pPr>
            <a:r>
              <a:rPr lang="en-US" b="0" i="0" u="none" strike="noStrike" baseline="0" dirty="0">
                <a:latin typeface="TimesTenLTStd-Roman"/>
              </a:rPr>
              <a:t>A potential for violation of security, which exists when there is a circumstance, capability, action, or event that could breach security and cause harm. That is, a threat is a possible danger that might </a:t>
            </a:r>
            <a:r>
              <a:rPr lang="en-IN" b="0" i="0" u="none" strike="noStrike" baseline="0" dirty="0">
                <a:latin typeface="TimesTenLTStd-Roman"/>
              </a:rPr>
              <a:t>exploit a vulnerability.</a:t>
            </a:r>
          </a:p>
          <a:p>
            <a:pPr algn="l"/>
            <a:r>
              <a:rPr lang="en-IN" b="1" i="0" u="none" strike="noStrike" baseline="0" dirty="0">
                <a:latin typeface="TimesTenLTStd-Bold"/>
              </a:rPr>
              <a:t>Attack</a:t>
            </a:r>
          </a:p>
          <a:p>
            <a:pPr marL="0" indent="0" algn="l">
              <a:buNone/>
            </a:pPr>
            <a:r>
              <a:rPr lang="en-US" b="0" i="0" u="none" strike="noStrike" baseline="0" dirty="0">
                <a:latin typeface="TimesTenLTStd-Roman"/>
              </a:rPr>
              <a:t>An assault on system security that derives from an intelligent threat; that is, an intelligent act that is a deliberate attempt (especially in the sense of a method or technique) to evade security services and violate the security policy of a system.</a:t>
            </a:r>
            <a:endParaRPr lang="en-IN" dirty="0"/>
          </a:p>
        </p:txBody>
      </p:sp>
    </p:spTree>
    <p:extLst>
      <p:ext uri="{BB962C8B-B14F-4D97-AF65-F5344CB8AC3E}">
        <p14:creationId xmlns:p14="http://schemas.microsoft.com/office/powerpoint/2010/main" val="2338098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F2DF7F8-9089-4DFF-977E-529404C7BCAC}"/>
              </a:ext>
            </a:extLst>
          </p:cNvPr>
          <p:cNvSpPr>
            <a:spLocks noGrp="1"/>
          </p:cNvSpPr>
          <p:nvPr>
            <p:ph type="subTitle" idx="1"/>
          </p:nvPr>
        </p:nvSpPr>
        <p:spPr>
          <a:xfrm>
            <a:off x="804909" y="246278"/>
            <a:ext cx="9144000" cy="579345"/>
          </a:xfrm>
        </p:spPr>
        <p:txBody>
          <a:bodyPr>
            <a:noAutofit/>
          </a:bodyPr>
          <a:lstStyle/>
          <a:p>
            <a:r>
              <a:rPr lang="en-US" sz="4000" dirty="0">
                <a:solidFill>
                  <a:srgbClr val="FF0000"/>
                </a:solidFill>
                <a:latin typeface="Times New Roman" panose="02020603050405020304" pitchFamily="18" charset="0"/>
                <a:cs typeface="Times New Roman" panose="02020603050405020304" pitchFamily="18" charset="0"/>
              </a:rPr>
              <a:t>Introduction to Security</a:t>
            </a:r>
            <a:endParaRPr lang="en-IN" sz="4000"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1B33319B-0008-4DCA-A39F-5768255A5F4D}"/>
              </a:ext>
            </a:extLst>
          </p:cNvPr>
          <p:cNvPicPr>
            <a:picLocks noChangeAspect="1"/>
          </p:cNvPicPr>
          <p:nvPr/>
        </p:nvPicPr>
        <p:blipFill>
          <a:blip r:embed="rId2"/>
          <a:stretch>
            <a:fillRect/>
          </a:stretch>
        </p:blipFill>
        <p:spPr>
          <a:xfrm>
            <a:off x="1089994" y="1304485"/>
            <a:ext cx="9820663" cy="1108783"/>
          </a:xfrm>
          <a:prstGeom prst="rect">
            <a:avLst/>
          </a:prstGeom>
        </p:spPr>
      </p:pic>
      <p:pic>
        <p:nvPicPr>
          <p:cNvPr id="11" name="Picture 10">
            <a:extLst>
              <a:ext uri="{FF2B5EF4-FFF2-40B4-BE49-F238E27FC236}">
                <a16:creationId xmlns:a16="http://schemas.microsoft.com/office/drawing/2014/main" id="{C3E9F5E4-F2B7-4346-BEA1-B6C1781E3AA3}"/>
              </a:ext>
            </a:extLst>
          </p:cNvPr>
          <p:cNvPicPr>
            <a:picLocks noChangeAspect="1"/>
          </p:cNvPicPr>
          <p:nvPr/>
        </p:nvPicPr>
        <p:blipFill>
          <a:blip r:embed="rId3"/>
          <a:stretch>
            <a:fillRect/>
          </a:stretch>
        </p:blipFill>
        <p:spPr>
          <a:xfrm>
            <a:off x="2529625" y="2822083"/>
            <a:ext cx="5828488" cy="2731432"/>
          </a:xfrm>
          <a:prstGeom prst="rect">
            <a:avLst/>
          </a:prstGeom>
        </p:spPr>
      </p:pic>
    </p:spTree>
    <p:extLst>
      <p:ext uri="{BB962C8B-B14F-4D97-AF65-F5344CB8AC3E}">
        <p14:creationId xmlns:p14="http://schemas.microsoft.com/office/powerpoint/2010/main" val="3696395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FD58D-BBB3-4733-97D6-4DBEA825DCA1}"/>
              </a:ext>
            </a:extLst>
          </p:cNvPr>
          <p:cNvSpPr>
            <a:spLocks noGrp="1"/>
          </p:cNvSpPr>
          <p:nvPr>
            <p:ph type="title"/>
          </p:nvPr>
        </p:nvSpPr>
        <p:spPr>
          <a:xfrm>
            <a:off x="1530658" y="-1276350"/>
            <a:ext cx="10515600" cy="6170443"/>
          </a:xfrm>
        </p:spPr>
        <p:txBody>
          <a:bodyPr>
            <a:normAutofit/>
          </a:bodyPr>
          <a:lstStyle/>
          <a:p>
            <a:r>
              <a:rPr lang="en-IN" sz="2400" b="1" i="0" u="sng" strike="noStrike" baseline="0" dirty="0">
                <a:solidFill>
                  <a:schemeClr val="accent1"/>
                </a:solidFill>
                <a:latin typeface="Calibri" panose="020F0502020204030204" pitchFamily="34" charset="0"/>
              </a:rPr>
              <a:t>Confidentiality</a:t>
            </a:r>
            <a:r>
              <a:rPr lang="en-IN" sz="1800" b="0" i="0" u="sng" strike="noStrike" baseline="0" dirty="0">
                <a:solidFill>
                  <a:schemeClr val="accent1"/>
                </a:solidFill>
                <a:latin typeface="Calibri" panose="020F0502020204030204" pitchFamily="34" charset="0"/>
              </a:rPr>
              <a:t>:</a:t>
            </a:r>
            <a:r>
              <a:rPr lang="en-IN" sz="1800" b="0" i="0" u="none" strike="noStrike" baseline="0" dirty="0">
                <a:solidFill>
                  <a:srgbClr val="000000"/>
                </a:solidFill>
                <a:latin typeface="Calibri" panose="020F0502020204030204" pitchFamily="34" charset="0"/>
              </a:rPr>
              <a:t> </a:t>
            </a:r>
            <a:r>
              <a:rPr lang="en-IN" sz="2400" b="0" i="0" u="none" strike="noStrike" baseline="0" dirty="0">
                <a:solidFill>
                  <a:srgbClr val="000000"/>
                </a:solidFill>
                <a:latin typeface="Calibri" panose="020F0502020204030204" pitchFamily="34" charset="0"/>
              </a:rPr>
              <a:t>Preserving </a:t>
            </a:r>
            <a:r>
              <a:rPr lang="en-IN" sz="2400" b="1" i="0" u="none" strike="noStrike" baseline="0" dirty="0">
                <a:solidFill>
                  <a:srgbClr val="000000"/>
                </a:solidFill>
                <a:latin typeface="Calibri" panose="020F0502020204030204" pitchFamily="34" charset="0"/>
              </a:rPr>
              <a:t>authorized  restrictions on information access </a:t>
            </a:r>
            <a:r>
              <a:rPr lang="en-IN" sz="2400" b="0" i="0" u="none" strike="noStrike" baseline="0" dirty="0">
                <a:solidFill>
                  <a:srgbClr val="000000"/>
                </a:solidFill>
                <a:latin typeface="Calibri" panose="020F0502020204030204" pitchFamily="34" charset="0"/>
              </a:rPr>
              <a:t>and disclosure, including means for protecting personal privacy and proprietary information.</a:t>
            </a:r>
            <a:br>
              <a:rPr lang="en-IN" sz="2400" b="0" i="0" u="none" strike="noStrike" baseline="0" dirty="0">
                <a:solidFill>
                  <a:srgbClr val="000000"/>
                </a:solidFill>
                <a:latin typeface="Calibri" panose="020F0502020204030204" pitchFamily="34" charset="0"/>
              </a:rPr>
            </a:br>
            <a:r>
              <a:rPr lang="en-IN" sz="2400" b="0" i="0" u="none" strike="noStrike" baseline="0" dirty="0">
                <a:solidFill>
                  <a:srgbClr val="000000"/>
                </a:solidFill>
                <a:latin typeface="Calibri" panose="020F0502020204030204" pitchFamily="34" charset="0"/>
              </a:rPr>
              <a:t>»­Not </a:t>
            </a:r>
            <a:r>
              <a:rPr lang="en-IN" sz="2400" dirty="0">
                <a:solidFill>
                  <a:srgbClr val="000000"/>
                </a:solidFill>
                <a:latin typeface="Calibri" panose="020F0502020204030204" pitchFamily="34" charset="0"/>
              </a:rPr>
              <a:t>only applies to the storage of information. It also applies to the transmission of information</a:t>
            </a:r>
            <a:br>
              <a:rPr lang="en-IN" sz="2400" b="0" i="0" u="none" strike="noStrike" baseline="0" dirty="0">
                <a:solidFill>
                  <a:srgbClr val="000000"/>
                </a:solidFill>
                <a:latin typeface="Calibri" panose="020F0502020204030204" pitchFamily="34" charset="0"/>
              </a:rPr>
            </a:br>
            <a:br>
              <a:rPr lang="en-IN" sz="2400" b="0" i="0" u="none" strike="noStrike" baseline="0" dirty="0">
                <a:solidFill>
                  <a:srgbClr val="000000"/>
                </a:solidFill>
                <a:latin typeface="Calibri" panose="020F0502020204030204" pitchFamily="34" charset="0"/>
              </a:rPr>
            </a:br>
            <a:r>
              <a:rPr lang="en-IN" sz="2400" b="1" i="0" u="sng" strike="noStrike" baseline="0" dirty="0">
                <a:solidFill>
                  <a:schemeClr val="accent1"/>
                </a:solidFill>
                <a:latin typeface="Calibri" panose="020F0502020204030204" pitchFamily="34" charset="0"/>
              </a:rPr>
              <a:t>Integrity:</a:t>
            </a:r>
            <a:endParaRPr lang="en-IN" sz="2400" b="1" u="sng" dirty="0">
              <a:solidFill>
                <a:schemeClr val="accent1"/>
              </a:solidFill>
            </a:endParaRPr>
          </a:p>
        </p:txBody>
      </p:sp>
      <p:pic>
        <p:nvPicPr>
          <p:cNvPr id="9" name="Picture 8">
            <a:extLst>
              <a:ext uri="{FF2B5EF4-FFF2-40B4-BE49-F238E27FC236}">
                <a16:creationId xmlns:a16="http://schemas.microsoft.com/office/drawing/2014/main" id="{8236E64B-49F8-4CB3-BBE6-0000758B98CA}"/>
              </a:ext>
            </a:extLst>
          </p:cNvPr>
          <p:cNvPicPr>
            <a:picLocks noChangeAspect="1"/>
          </p:cNvPicPr>
          <p:nvPr/>
        </p:nvPicPr>
        <p:blipFill>
          <a:blip r:embed="rId2"/>
          <a:stretch>
            <a:fillRect/>
          </a:stretch>
        </p:blipFill>
        <p:spPr>
          <a:xfrm>
            <a:off x="1530658" y="3026266"/>
            <a:ext cx="9943782" cy="1183783"/>
          </a:xfrm>
          <a:prstGeom prst="rect">
            <a:avLst/>
          </a:prstGeom>
        </p:spPr>
      </p:pic>
      <p:sp>
        <p:nvSpPr>
          <p:cNvPr id="10" name="Content Placeholder 2">
            <a:extLst>
              <a:ext uri="{FF2B5EF4-FFF2-40B4-BE49-F238E27FC236}">
                <a16:creationId xmlns:a16="http://schemas.microsoft.com/office/drawing/2014/main" id="{B2A961D1-1464-4596-B837-B624431D8E54}"/>
              </a:ext>
            </a:extLst>
          </p:cNvPr>
          <p:cNvSpPr>
            <a:spLocks noGrp="1"/>
          </p:cNvSpPr>
          <p:nvPr>
            <p:ph idx="1"/>
          </p:nvPr>
        </p:nvSpPr>
        <p:spPr>
          <a:xfrm>
            <a:off x="1406053" y="4201065"/>
            <a:ext cx="10515600" cy="2070100"/>
          </a:xfrm>
        </p:spPr>
        <p:txBody>
          <a:bodyPr/>
          <a:lstStyle/>
          <a:p>
            <a:pPr marL="0" indent="0">
              <a:buNone/>
            </a:pPr>
            <a:r>
              <a:rPr lang="en-US" sz="2400" b="1" u="sng" dirty="0">
                <a:solidFill>
                  <a:schemeClr val="accent1"/>
                </a:solidFill>
              </a:rPr>
              <a:t> Availability</a:t>
            </a:r>
          </a:p>
          <a:p>
            <a:pPr marL="0" indent="0">
              <a:buNone/>
            </a:pPr>
            <a:r>
              <a:rPr lang="en-US" sz="2400" dirty="0"/>
              <a:t>»The information created and stored by an organization needs to be available to authorized entities </a:t>
            </a:r>
          </a:p>
          <a:p>
            <a:pPr marL="0" indent="0">
              <a:buNone/>
            </a:pPr>
            <a:r>
              <a:rPr lang="en-US" sz="2400" dirty="0"/>
              <a:t>»Information is useless if it is not available.</a:t>
            </a:r>
            <a:endParaRPr lang="en-IN" sz="2400" dirty="0"/>
          </a:p>
        </p:txBody>
      </p:sp>
    </p:spTree>
    <p:extLst>
      <p:ext uri="{BB962C8B-B14F-4D97-AF65-F5344CB8AC3E}">
        <p14:creationId xmlns:p14="http://schemas.microsoft.com/office/powerpoint/2010/main" val="4065707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FD4C730-D397-4EFC-9081-9188E4274992}"/>
              </a:ext>
            </a:extLst>
          </p:cNvPr>
          <p:cNvPicPr>
            <a:picLocks noChangeAspect="1"/>
          </p:cNvPicPr>
          <p:nvPr/>
        </p:nvPicPr>
        <p:blipFill>
          <a:blip r:embed="rId2"/>
          <a:stretch>
            <a:fillRect/>
          </a:stretch>
        </p:blipFill>
        <p:spPr>
          <a:xfrm>
            <a:off x="1020785" y="802783"/>
            <a:ext cx="10520086" cy="4940792"/>
          </a:xfrm>
          <a:prstGeom prst="rect">
            <a:avLst/>
          </a:prstGeom>
        </p:spPr>
      </p:pic>
    </p:spTree>
    <p:extLst>
      <p:ext uri="{BB962C8B-B14F-4D97-AF65-F5344CB8AC3E}">
        <p14:creationId xmlns:p14="http://schemas.microsoft.com/office/powerpoint/2010/main" val="1705447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815042-07D9-4447-9E0F-5451CFEBC583}"/>
              </a:ext>
            </a:extLst>
          </p:cNvPr>
          <p:cNvPicPr>
            <a:picLocks noGrp="1" noChangeAspect="1"/>
          </p:cNvPicPr>
          <p:nvPr>
            <p:ph idx="1"/>
          </p:nvPr>
        </p:nvPicPr>
        <p:blipFill>
          <a:blip r:embed="rId2"/>
          <a:stretch>
            <a:fillRect/>
          </a:stretch>
        </p:blipFill>
        <p:spPr>
          <a:xfrm>
            <a:off x="3438511" y="1825625"/>
            <a:ext cx="5314977" cy="4351338"/>
          </a:xfrm>
        </p:spPr>
      </p:pic>
    </p:spTree>
    <p:extLst>
      <p:ext uri="{BB962C8B-B14F-4D97-AF65-F5344CB8AC3E}">
        <p14:creationId xmlns:p14="http://schemas.microsoft.com/office/powerpoint/2010/main" val="1890262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E9AB163-26C4-4935-B3B0-FA5BF0929747}"/>
              </a:ext>
            </a:extLst>
          </p:cNvPr>
          <p:cNvPicPr>
            <a:picLocks noGrp="1" noChangeAspect="1"/>
          </p:cNvPicPr>
          <p:nvPr>
            <p:ph idx="1"/>
          </p:nvPr>
        </p:nvPicPr>
        <p:blipFill>
          <a:blip r:embed="rId2"/>
          <a:stretch>
            <a:fillRect/>
          </a:stretch>
        </p:blipFill>
        <p:spPr>
          <a:xfrm>
            <a:off x="1070230" y="473074"/>
            <a:ext cx="9534615" cy="5546725"/>
          </a:xfrm>
        </p:spPr>
      </p:pic>
    </p:spTree>
    <p:extLst>
      <p:ext uri="{BB962C8B-B14F-4D97-AF65-F5344CB8AC3E}">
        <p14:creationId xmlns:p14="http://schemas.microsoft.com/office/powerpoint/2010/main" val="4575538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061A3E-E67A-4C63-B9A2-3785C2D43951}"/>
              </a:ext>
            </a:extLst>
          </p:cNvPr>
          <p:cNvPicPr>
            <a:picLocks noChangeAspect="1"/>
          </p:cNvPicPr>
          <p:nvPr/>
        </p:nvPicPr>
        <p:blipFill>
          <a:blip r:embed="rId2"/>
          <a:stretch>
            <a:fillRect/>
          </a:stretch>
        </p:blipFill>
        <p:spPr>
          <a:xfrm>
            <a:off x="1501328" y="312178"/>
            <a:ext cx="8293994" cy="1680693"/>
          </a:xfrm>
          <a:prstGeom prst="rect">
            <a:avLst/>
          </a:prstGeom>
        </p:spPr>
      </p:pic>
      <p:pic>
        <p:nvPicPr>
          <p:cNvPr id="7" name="Picture 6">
            <a:extLst>
              <a:ext uri="{FF2B5EF4-FFF2-40B4-BE49-F238E27FC236}">
                <a16:creationId xmlns:a16="http://schemas.microsoft.com/office/drawing/2014/main" id="{4409BD5B-360B-45AC-9877-50255EFD8A2F}"/>
              </a:ext>
            </a:extLst>
          </p:cNvPr>
          <p:cNvPicPr>
            <a:picLocks noChangeAspect="1"/>
          </p:cNvPicPr>
          <p:nvPr/>
        </p:nvPicPr>
        <p:blipFill>
          <a:blip r:embed="rId3"/>
          <a:stretch>
            <a:fillRect/>
          </a:stretch>
        </p:blipFill>
        <p:spPr>
          <a:xfrm>
            <a:off x="2042508" y="1710542"/>
            <a:ext cx="7640582" cy="4690258"/>
          </a:xfrm>
          <a:prstGeom prst="rect">
            <a:avLst/>
          </a:prstGeom>
        </p:spPr>
      </p:pic>
    </p:spTree>
    <p:extLst>
      <p:ext uri="{BB962C8B-B14F-4D97-AF65-F5344CB8AC3E}">
        <p14:creationId xmlns:p14="http://schemas.microsoft.com/office/powerpoint/2010/main" val="414836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A96515-2CFE-4F29-B859-CBA34ECC3F11}"/>
              </a:ext>
            </a:extLst>
          </p:cNvPr>
          <p:cNvPicPr>
            <a:picLocks noChangeAspect="1"/>
          </p:cNvPicPr>
          <p:nvPr/>
        </p:nvPicPr>
        <p:blipFill>
          <a:blip r:embed="rId2"/>
          <a:stretch>
            <a:fillRect/>
          </a:stretch>
        </p:blipFill>
        <p:spPr>
          <a:xfrm>
            <a:off x="213964" y="885826"/>
            <a:ext cx="9642667" cy="4981574"/>
          </a:xfrm>
          <a:prstGeom prst="rect">
            <a:avLst/>
          </a:prstGeom>
        </p:spPr>
      </p:pic>
    </p:spTree>
    <p:extLst>
      <p:ext uri="{BB962C8B-B14F-4D97-AF65-F5344CB8AC3E}">
        <p14:creationId xmlns:p14="http://schemas.microsoft.com/office/powerpoint/2010/main" val="2325367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EFFA32-46B1-42C0-ADDC-56875E33BF42}"/>
              </a:ext>
            </a:extLst>
          </p:cNvPr>
          <p:cNvPicPr>
            <a:picLocks noChangeAspect="1"/>
          </p:cNvPicPr>
          <p:nvPr/>
        </p:nvPicPr>
        <p:blipFill>
          <a:blip r:embed="rId2"/>
          <a:stretch>
            <a:fillRect/>
          </a:stretch>
        </p:blipFill>
        <p:spPr>
          <a:xfrm>
            <a:off x="1620457" y="352693"/>
            <a:ext cx="8454597" cy="5552807"/>
          </a:xfrm>
          <a:prstGeom prst="rect">
            <a:avLst/>
          </a:prstGeom>
        </p:spPr>
      </p:pic>
    </p:spTree>
    <p:extLst>
      <p:ext uri="{BB962C8B-B14F-4D97-AF65-F5344CB8AC3E}">
        <p14:creationId xmlns:p14="http://schemas.microsoft.com/office/powerpoint/2010/main" val="7763395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B9B2A5B-CEC6-4CA6-825D-F90325D0183D}"/>
              </a:ext>
            </a:extLst>
          </p:cNvPr>
          <p:cNvPicPr>
            <a:picLocks noChangeAspect="1"/>
          </p:cNvPicPr>
          <p:nvPr/>
        </p:nvPicPr>
        <p:blipFill>
          <a:blip r:embed="rId2"/>
          <a:stretch>
            <a:fillRect/>
          </a:stretch>
        </p:blipFill>
        <p:spPr>
          <a:xfrm>
            <a:off x="923925" y="224010"/>
            <a:ext cx="9100131" cy="5639097"/>
          </a:xfrm>
          <a:prstGeom prst="rect">
            <a:avLst/>
          </a:prstGeom>
        </p:spPr>
      </p:pic>
      <p:pic>
        <p:nvPicPr>
          <p:cNvPr id="6" name="Picture 5">
            <a:extLst>
              <a:ext uri="{FF2B5EF4-FFF2-40B4-BE49-F238E27FC236}">
                <a16:creationId xmlns:a16="http://schemas.microsoft.com/office/drawing/2014/main" id="{05C8D140-E60B-4109-9B61-D3D910BAAAA2}"/>
              </a:ext>
            </a:extLst>
          </p:cNvPr>
          <p:cNvPicPr>
            <a:picLocks noChangeAspect="1"/>
          </p:cNvPicPr>
          <p:nvPr/>
        </p:nvPicPr>
        <p:blipFill>
          <a:blip r:embed="rId2"/>
          <a:stretch>
            <a:fillRect/>
          </a:stretch>
        </p:blipFill>
        <p:spPr>
          <a:xfrm>
            <a:off x="895350" y="233535"/>
            <a:ext cx="9100131" cy="5639097"/>
          </a:xfrm>
          <a:prstGeom prst="rect">
            <a:avLst/>
          </a:prstGeom>
        </p:spPr>
      </p:pic>
      <p:pic>
        <p:nvPicPr>
          <p:cNvPr id="8" name="Picture 7">
            <a:extLst>
              <a:ext uri="{FF2B5EF4-FFF2-40B4-BE49-F238E27FC236}">
                <a16:creationId xmlns:a16="http://schemas.microsoft.com/office/drawing/2014/main" id="{048B3F70-B080-408B-9A23-CFDB11A584EB}"/>
              </a:ext>
            </a:extLst>
          </p:cNvPr>
          <p:cNvPicPr>
            <a:picLocks noChangeAspect="1"/>
          </p:cNvPicPr>
          <p:nvPr/>
        </p:nvPicPr>
        <p:blipFill>
          <a:blip r:embed="rId3"/>
          <a:stretch>
            <a:fillRect/>
          </a:stretch>
        </p:blipFill>
        <p:spPr>
          <a:xfrm>
            <a:off x="400760" y="0"/>
            <a:ext cx="10714916" cy="6451255"/>
          </a:xfrm>
          <a:prstGeom prst="rect">
            <a:avLst/>
          </a:prstGeom>
        </p:spPr>
      </p:pic>
    </p:spTree>
    <p:extLst>
      <p:ext uri="{BB962C8B-B14F-4D97-AF65-F5344CB8AC3E}">
        <p14:creationId xmlns:p14="http://schemas.microsoft.com/office/powerpoint/2010/main" val="4051540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79BF73-46BB-43CB-B72D-FA74F6445253}"/>
              </a:ext>
            </a:extLst>
          </p:cNvPr>
          <p:cNvPicPr>
            <a:picLocks noChangeAspect="1"/>
          </p:cNvPicPr>
          <p:nvPr/>
        </p:nvPicPr>
        <p:blipFill>
          <a:blip r:embed="rId2"/>
          <a:stretch>
            <a:fillRect/>
          </a:stretch>
        </p:blipFill>
        <p:spPr>
          <a:xfrm>
            <a:off x="1110668" y="693714"/>
            <a:ext cx="8554449" cy="5230835"/>
          </a:xfrm>
          <a:prstGeom prst="rect">
            <a:avLst/>
          </a:prstGeom>
        </p:spPr>
      </p:pic>
    </p:spTree>
    <p:extLst>
      <p:ext uri="{BB962C8B-B14F-4D97-AF65-F5344CB8AC3E}">
        <p14:creationId xmlns:p14="http://schemas.microsoft.com/office/powerpoint/2010/main" val="25911910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A7E2C7-D0A9-4236-B0E7-66DFFEF1D7D4}"/>
              </a:ext>
            </a:extLst>
          </p:cNvPr>
          <p:cNvPicPr>
            <a:picLocks noChangeAspect="1"/>
          </p:cNvPicPr>
          <p:nvPr/>
        </p:nvPicPr>
        <p:blipFill>
          <a:blip r:embed="rId2"/>
          <a:stretch>
            <a:fillRect/>
          </a:stretch>
        </p:blipFill>
        <p:spPr>
          <a:xfrm>
            <a:off x="889849" y="102092"/>
            <a:ext cx="8444651" cy="5473384"/>
          </a:xfrm>
          <a:prstGeom prst="rect">
            <a:avLst/>
          </a:prstGeom>
        </p:spPr>
      </p:pic>
      <p:sp>
        <p:nvSpPr>
          <p:cNvPr id="6" name="TextBox 5">
            <a:extLst>
              <a:ext uri="{FF2B5EF4-FFF2-40B4-BE49-F238E27FC236}">
                <a16:creationId xmlns:a16="http://schemas.microsoft.com/office/drawing/2014/main" id="{2B2B6A37-35BF-4226-9ABD-5ED7292AF987}"/>
              </a:ext>
            </a:extLst>
          </p:cNvPr>
          <p:cNvSpPr txBox="1"/>
          <p:nvPr/>
        </p:nvSpPr>
        <p:spPr>
          <a:xfrm>
            <a:off x="5772150" y="129659"/>
            <a:ext cx="3124200" cy="646331"/>
          </a:xfrm>
          <a:prstGeom prst="rect">
            <a:avLst/>
          </a:prstGeom>
          <a:noFill/>
        </p:spPr>
        <p:txBody>
          <a:bodyPr wrap="square" rtlCol="0">
            <a:spAutoFit/>
          </a:bodyPr>
          <a:lstStyle/>
          <a:p>
            <a:r>
              <a:rPr lang="en-US" sz="3200" dirty="0"/>
              <a:t>/</a:t>
            </a:r>
            <a:r>
              <a:rPr lang="en-US" dirty="0"/>
              <a:t> </a:t>
            </a:r>
            <a:r>
              <a:rPr lang="en-US" sz="3600" b="1" dirty="0"/>
              <a:t>Spoofing</a:t>
            </a:r>
            <a:endParaRPr lang="en-IN" sz="3600" b="1" dirty="0"/>
          </a:p>
        </p:txBody>
      </p:sp>
      <p:sp>
        <p:nvSpPr>
          <p:cNvPr id="7" name="TextBox 6">
            <a:extLst>
              <a:ext uri="{FF2B5EF4-FFF2-40B4-BE49-F238E27FC236}">
                <a16:creationId xmlns:a16="http://schemas.microsoft.com/office/drawing/2014/main" id="{C8044294-C7A9-4703-8799-F26F24127F74}"/>
              </a:ext>
            </a:extLst>
          </p:cNvPr>
          <p:cNvSpPr txBox="1"/>
          <p:nvPr/>
        </p:nvSpPr>
        <p:spPr>
          <a:xfrm>
            <a:off x="1219200" y="5603043"/>
            <a:ext cx="9515475" cy="461665"/>
          </a:xfrm>
          <a:prstGeom prst="rect">
            <a:avLst/>
          </a:prstGeom>
          <a:noFill/>
        </p:spPr>
        <p:txBody>
          <a:bodyPr wrap="square" rtlCol="0">
            <a:spAutoFit/>
          </a:bodyPr>
          <a:lstStyle/>
          <a:p>
            <a:r>
              <a:rPr lang="en-US" sz="2400" dirty="0"/>
              <a:t>Sometimes the attacker pretends instead to be the receiver entity</a:t>
            </a:r>
            <a:endParaRPr lang="en-IN" sz="2400" dirty="0"/>
          </a:p>
        </p:txBody>
      </p:sp>
    </p:spTree>
    <p:extLst>
      <p:ext uri="{BB962C8B-B14F-4D97-AF65-F5344CB8AC3E}">
        <p14:creationId xmlns:p14="http://schemas.microsoft.com/office/powerpoint/2010/main" val="601353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920A-9F06-4C30-B6D6-9A3927B6B41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3A31EB-08B0-49F1-A6D1-D1428D053754}"/>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6AB11476-E50D-48F7-8A04-B04044CB2E58}"/>
              </a:ext>
            </a:extLst>
          </p:cNvPr>
          <p:cNvPicPr>
            <a:picLocks noChangeAspect="1"/>
          </p:cNvPicPr>
          <p:nvPr/>
        </p:nvPicPr>
        <p:blipFill>
          <a:blip r:embed="rId2"/>
          <a:stretch>
            <a:fillRect/>
          </a:stretch>
        </p:blipFill>
        <p:spPr>
          <a:xfrm>
            <a:off x="110918" y="0"/>
            <a:ext cx="11970164" cy="6858000"/>
          </a:xfrm>
          <a:prstGeom prst="rect">
            <a:avLst/>
          </a:prstGeom>
        </p:spPr>
      </p:pic>
    </p:spTree>
    <p:extLst>
      <p:ext uri="{BB962C8B-B14F-4D97-AF65-F5344CB8AC3E}">
        <p14:creationId xmlns:p14="http://schemas.microsoft.com/office/powerpoint/2010/main" val="37653263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FB1F095-C99B-40E6-B957-2FB64B9C465D}"/>
              </a:ext>
            </a:extLst>
          </p:cNvPr>
          <p:cNvPicPr>
            <a:picLocks noChangeAspect="1"/>
          </p:cNvPicPr>
          <p:nvPr/>
        </p:nvPicPr>
        <p:blipFill>
          <a:blip r:embed="rId2"/>
          <a:stretch>
            <a:fillRect/>
          </a:stretch>
        </p:blipFill>
        <p:spPr>
          <a:xfrm>
            <a:off x="990601" y="266761"/>
            <a:ext cx="10239374" cy="6342176"/>
          </a:xfrm>
          <a:prstGeom prst="rect">
            <a:avLst/>
          </a:prstGeom>
        </p:spPr>
      </p:pic>
    </p:spTree>
    <p:extLst>
      <p:ext uri="{BB962C8B-B14F-4D97-AF65-F5344CB8AC3E}">
        <p14:creationId xmlns:p14="http://schemas.microsoft.com/office/powerpoint/2010/main" val="3917186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1863C9F-F331-4953-A8ED-6A0145025ADF}"/>
              </a:ext>
            </a:extLst>
          </p:cNvPr>
          <p:cNvPicPr>
            <a:picLocks noChangeAspect="1"/>
          </p:cNvPicPr>
          <p:nvPr/>
        </p:nvPicPr>
        <p:blipFill>
          <a:blip r:embed="rId2"/>
          <a:stretch>
            <a:fillRect/>
          </a:stretch>
        </p:blipFill>
        <p:spPr>
          <a:xfrm>
            <a:off x="1845972" y="779172"/>
            <a:ext cx="8500056" cy="5299656"/>
          </a:xfrm>
          <a:prstGeom prst="rect">
            <a:avLst/>
          </a:prstGeom>
        </p:spPr>
      </p:pic>
      <p:pic>
        <p:nvPicPr>
          <p:cNvPr id="7" name="Picture 6">
            <a:extLst>
              <a:ext uri="{FF2B5EF4-FFF2-40B4-BE49-F238E27FC236}">
                <a16:creationId xmlns:a16="http://schemas.microsoft.com/office/drawing/2014/main" id="{749E6A48-3054-4FAA-914B-0739B97D2AF6}"/>
              </a:ext>
            </a:extLst>
          </p:cNvPr>
          <p:cNvPicPr>
            <a:picLocks noChangeAspect="1"/>
          </p:cNvPicPr>
          <p:nvPr/>
        </p:nvPicPr>
        <p:blipFill>
          <a:blip r:embed="rId3"/>
          <a:stretch>
            <a:fillRect/>
          </a:stretch>
        </p:blipFill>
        <p:spPr>
          <a:xfrm>
            <a:off x="406400" y="0"/>
            <a:ext cx="11379200" cy="6858000"/>
          </a:xfrm>
          <a:prstGeom prst="rect">
            <a:avLst/>
          </a:prstGeom>
        </p:spPr>
      </p:pic>
    </p:spTree>
    <p:extLst>
      <p:ext uri="{BB962C8B-B14F-4D97-AF65-F5344CB8AC3E}">
        <p14:creationId xmlns:p14="http://schemas.microsoft.com/office/powerpoint/2010/main" val="1808036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4F1C0AF-7BDF-4C8B-A716-8BCF477190FF}"/>
              </a:ext>
            </a:extLst>
          </p:cNvPr>
          <p:cNvPicPr>
            <a:picLocks noChangeAspect="1"/>
          </p:cNvPicPr>
          <p:nvPr/>
        </p:nvPicPr>
        <p:blipFill>
          <a:blip r:embed="rId2"/>
          <a:stretch>
            <a:fillRect/>
          </a:stretch>
        </p:blipFill>
        <p:spPr>
          <a:xfrm>
            <a:off x="2232338" y="940157"/>
            <a:ext cx="8168962" cy="5262174"/>
          </a:xfrm>
          <a:prstGeom prst="rect">
            <a:avLst/>
          </a:prstGeom>
        </p:spPr>
      </p:pic>
    </p:spTree>
    <p:extLst>
      <p:ext uri="{BB962C8B-B14F-4D97-AF65-F5344CB8AC3E}">
        <p14:creationId xmlns:p14="http://schemas.microsoft.com/office/powerpoint/2010/main" val="33355813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569F4313-3E9D-4A01-8DD0-4F226CB7BFE4}"/>
              </a:ext>
            </a:extLst>
          </p:cNvPr>
          <p:cNvGraphicFramePr>
            <a:graphicFrameLocks noGrp="1"/>
          </p:cNvGraphicFramePr>
          <p:nvPr>
            <p:ph idx="1"/>
            <p:extLst>
              <p:ext uri="{D42A27DB-BD31-4B8C-83A1-F6EECF244321}">
                <p14:modId xmlns:p14="http://schemas.microsoft.com/office/powerpoint/2010/main" val="1282735828"/>
              </p:ext>
            </p:extLst>
          </p:nvPr>
        </p:nvGraphicFramePr>
        <p:xfrm>
          <a:off x="781235" y="863600"/>
          <a:ext cx="10572565" cy="5679440"/>
        </p:xfrm>
        <a:graphic>
          <a:graphicData uri="http://schemas.openxmlformats.org/drawingml/2006/table">
            <a:tbl>
              <a:tblPr firstRow="1" bandRow="1">
                <a:tableStyleId>{5C22544A-7EE6-4342-B048-85BDC9FD1C3A}</a:tableStyleId>
              </a:tblPr>
              <a:tblGrid>
                <a:gridCol w="5314765">
                  <a:extLst>
                    <a:ext uri="{9D8B030D-6E8A-4147-A177-3AD203B41FA5}">
                      <a16:colId xmlns:a16="http://schemas.microsoft.com/office/drawing/2014/main" val="615784145"/>
                    </a:ext>
                  </a:extLst>
                </a:gridCol>
                <a:gridCol w="5257800">
                  <a:extLst>
                    <a:ext uri="{9D8B030D-6E8A-4147-A177-3AD203B41FA5}">
                      <a16:colId xmlns:a16="http://schemas.microsoft.com/office/drawing/2014/main" val="3380915943"/>
                    </a:ext>
                  </a:extLst>
                </a:gridCol>
              </a:tblGrid>
              <a:tr h="370840">
                <a:tc>
                  <a:txBody>
                    <a:bodyPr/>
                    <a:lstStyle/>
                    <a:p>
                      <a:r>
                        <a:rPr lang="en-US" dirty="0"/>
                        <a:t>Passive Attacks</a:t>
                      </a:r>
                      <a:endParaRPr lang="en-IN" dirty="0"/>
                    </a:p>
                  </a:txBody>
                  <a:tcPr/>
                </a:tc>
                <a:tc>
                  <a:txBody>
                    <a:bodyPr/>
                    <a:lstStyle/>
                    <a:p>
                      <a:r>
                        <a:rPr lang="en-US" dirty="0"/>
                        <a:t>Active Attacks</a:t>
                      </a:r>
                      <a:endParaRPr lang="en-IN" dirty="0"/>
                    </a:p>
                  </a:txBody>
                  <a:tcPr/>
                </a:tc>
                <a:extLst>
                  <a:ext uri="{0D108BD9-81ED-4DB2-BD59-A6C34878D82A}">
                    <a16:rowId xmlns:a16="http://schemas.microsoft.com/office/drawing/2014/main" val="2920505050"/>
                  </a:ext>
                </a:extLst>
              </a:tr>
              <a:tr h="370840">
                <a:tc>
                  <a:txBody>
                    <a:bodyPr/>
                    <a:lstStyle/>
                    <a:p>
                      <a:r>
                        <a:rPr lang="en-US" sz="2400" dirty="0"/>
                        <a:t>The attacker’s goal is just to obtain information</a:t>
                      </a:r>
                      <a:endParaRPr lang="en-IN" sz="2400" dirty="0"/>
                    </a:p>
                  </a:txBody>
                  <a:tcPr/>
                </a:tc>
                <a:tc>
                  <a:txBody>
                    <a:bodyPr/>
                    <a:lstStyle/>
                    <a:p>
                      <a:endParaRPr lang="en-IN" sz="2400" dirty="0"/>
                    </a:p>
                  </a:txBody>
                  <a:tcPr/>
                </a:tc>
                <a:extLst>
                  <a:ext uri="{0D108BD9-81ED-4DB2-BD59-A6C34878D82A}">
                    <a16:rowId xmlns:a16="http://schemas.microsoft.com/office/drawing/2014/main" val="533108648"/>
                  </a:ext>
                </a:extLst>
              </a:tr>
              <a:tr h="370840">
                <a:tc>
                  <a:txBody>
                    <a:bodyPr/>
                    <a:lstStyle/>
                    <a:p>
                      <a:r>
                        <a:rPr lang="en-US" sz="2400" dirty="0"/>
                        <a:t>The attack does not modify the data or harm the system. The system continues with its normal operation</a:t>
                      </a:r>
                      <a:endParaRPr lang="en-IN" sz="2400" dirty="0"/>
                    </a:p>
                  </a:txBody>
                  <a:tcPr/>
                </a:tc>
                <a:tc>
                  <a:txBody>
                    <a:bodyPr/>
                    <a:lstStyle/>
                    <a:p>
                      <a:r>
                        <a:rPr lang="en-US" sz="2400" dirty="0"/>
                        <a:t>Active attack may change the data or harm the system</a:t>
                      </a:r>
                      <a:endParaRPr lang="en-IN" sz="2400" dirty="0"/>
                    </a:p>
                  </a:txBody>
                  <a:tcPr/>
                </a:tc>
                <a:extLst>
                  <a:ext uri="{0D108BD9-81ED-4DB2-BD59-A6C34878D82A}">
                    <a16:rowId xmlns:a16="http://schemas.microsoft.com/office/drawing/2014/main" val="61380826"/>
                  </a:ext>
                </a:extLst>
              </a:tr>
              <a:tr h="370840">
                <a:tc>
                  <a:txBody>
                    <a:bodyPr/>
                    <a:lstStyle/>
                    <a:p>
                      <a:r>
                        <a:rPr lang="en-US" sz="2400" dirty="0"/>
                        <a:t>Attack may harm the sender or receiver of the message</a:t>
                      </a:r>
                      <a:endParaRPr lang="en-IN" sz="2400" dirty="0"/>
                    </a:p>
                  </a:txBody>
                  <a:tcPr/>
                </a:tc>
                <a:tc>
                  <a:txBody>
                    <a:bodyPr/>
                    <a:lstStyle/>
                    <a:p>
                      <a:endParaRPr lang="en-IN" sz="2400"/>
                    </a:p>
                  </a:txBody>
                  <a:tcPr/>
                </a:tc>
                <a:extLst>
                  <a:ext uri="{0D108BD9-81ED-4DB2-BD59-A6C34878D82A}">
                    <a16:rowId xmlns:a16="http://schemas.microsoft.com/office/drawing/2014/main" val="2775941215"/>
                  </a:ext>
                </a:extLst>
              </a:tr>
              <a:tr h="370840">
                <a:tc>
                  <a:txBody>
                    <a:bodyPr/>
                    <a:lstStyle/>
                    <a:p>
                      <a:r>
                        <a:rPr lang="en-US" sz="2400" dirty="0"/>
                        <a:t>Difficult to detect passive attack</a:t>
                      </a:r>
                      <a:endParaRPr lang="en-IN" sz="2400" dirty="0"/>
                    </a:p>
                  </a:txBody>
                  <a:tcPr/>
                </a:tc>
                <a:tc>
                  <a:txBody>
                    <a:bodyPr/>
                    <a:lstStyle/>
                    <a:p>
                      <a:r>
                        <a:rPr lang="en-US" sz="2400" dirty="0"/>
                        <a:t>Easier to detect</a:t>
                      </a:r>
                      <a:endParaRPr lang="en-IN" sz="2400" dirty="0"/>
                    </a:p>
                  </a:txBody>
                  <a:tcPr/>
                </a:tc>
                <a:extLst>
                  <a:ext uri="{0D108BD9-81ED-4DB2-BD59-A6C34878D82A}">
                    <a16:rowId xmlns:a16="http://schemas.microsoft.com/office/drawing/2014/main" val="226522570"/>
                  </a:ext>
                </a:extLst>
              </a:tr>
              <a:tr h="370840">
                <a:tc>
                  <a:txBody>
                    <a:bodyPr/>
                    <a:lstStyle/>
                    <a:p>
                      <a:r>
                        <a:rPr lang="en-US" sz="2400" dirty="0"/>
                        <a:t>Prevented by encipherment of data</a:t>
                      </a:r>
                      <a:endParaRPr lang="en-IN" sz="2400" dirty="0"/>
                    </a:p>
                  </a:txBody>
                  <a:tcPr/>
                </a:tc>
                <a:tc>
                  <a:txBody>
                    <a:bodyPr/>
                    <a:lstStyle/>
                    <a:p>
                      <a:endParaRPr lang="en-IN" sz="2400" dirty="0"/>
                    </a:p>
                  </a:txBody>
                  <a:tcPr/>
                </a:tc>
                <a:extLst>
                  <a:ext uri="{0D108BD9-81ED-4DB2-BD59-A6C34878D82A}">
                    <a16:rowId xmlns:a16="http://schemas.microsoft.com/office/drawing/2014/main" val="4244010494"/>
                  </a:ext>
                </a:extLst>
              </a:tr>
              <a:tr h="370840">
                <a:tc>
                  <a:txBody>
                    <a:bodyPr/>
                    <a:lstStyle/>
                    <a:p>
                      <a:r>
                        <a:rPr lang="en-US" sz="2400" dirty="0"/>
                        <a:t>Attacks that threaten confidentiality are passive</a:t>
                      </a:r>
                      <a:endParaRPr lang="en-IN" sz="2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Attacks that threaten the integrity and availability are active </a:t>
                      </a:r>
                      <a:endParaRPr lang="en-IN" sz="2400" dirty="0"/>
                    </a:p>
                    <a:p>
                      <a:endParaRPr lang="en-IN" sz="2400" dirty="0"/>
                    </a:p>
                  </a:txBody>
                  <a:tcPr/>
                </a:tc>
                <a:extLst>
                  <a:ext uri="{0D108BD9-81ED-4DB2-BD59-A6C34878D82A}">
                    <a16:rowId xmlns:a16="http://schemas.microsoft.com/office/drawing/2014/main" val="4070295035"/>
                  </a:ext>
                </a:extLst>
              </a:tr>
              <a:tr h="37084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2710616500"/>
                  </a:ext>
                </a:extLst>
              </a:tr>
            </a:tbl>
          </a:graphicData>
        </a:graphic>
      </p:graphicFrame>
    </p:spTree>
    <p:extLst>
      <p:ext uri="{BB962C8B-B14F-4D97-AF65-F5344CB8AC3E}">
        <p14:creationId xmlns:p14="http://schemas.microsoft.com/office/powerpoint/2010/main" val="492066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01296-828D-4387-956E-D7581950334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BEC5B00-1E26-4DB0-87E3-6A85ADCD1686}"/>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2B08E42-99EE-4ECB-9CBC-EF2E8074A3CE}"/>
              </a:ext>
            </a:extLst>
          </p:cNvPr>
          <p:cNvPicPr>
            <a:picLocks noChangeAspect="1"/>
          </p:cNvPicPr>
          <p:nvPr/>
        </p:nvPicPr>
        <p:blipFill>
          <a:blip r:embed="rId2"/>
          <a:stretch>
            <a:fillRect/>
          </a:stretch>
        </p:blipFill>
        <p:spPr>
          <a:xfrm>
            <a:off x="374936" y="0"/>
            <a:ext cx="11442127" cy="6858000"/>
          </a:xfrm>
          <a:prstGeom prst="rect">
            <a:avLst/>
          </a:prstGeom>
        </p:spPr>
      </p:pic>
    </p:spTree>
    <p:extLst>
      <p:ext uri="{BB962C8B-B14F-4D97-AF65-F5344CB8AC3E}">
        <p14:creationId xmlns:p14="http://schemas.microsoft.com/office/powerpoint/2010/main" val="1640611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35916-E786-4FF8-BE1E-E71B25761987}"/>
              </a:ext>
            </a:extLst>
          </p:cNvPr>
          <p:cNvSpPr>
            <a:spLocks noGrp="1"/>
          </p:cNvSpPr>
          <p:nvPr>
            <p:ph type="title"/>
          </p:nvPr>
        </p:nvSpPr>
        <p:spPr/>
        <p:txBody>
          <a:bodyPr>
            <a:normAutofit/>
          </a:bodyPr>
          <a:lstStyle/>
          <a:p>
            <a:r>
              <a:rPr lang="en-US" sz="3600" b="1" dirty="0">
                <a:solidFill>
                  <a:schemeClr val="accent1"/>
                </a:solidFill>
              </a:rPr>
              <a:t>Data confidentiality</a:t>
            </a:r>
            <a:endParaRPr lang="en-IN" sz="3600" b="1" dirty="0">
              <a:solidFill>
                <a:schemeClr val="accent1"/>
              </a:solidFill>
            </a:endParaRPr>
          </a:p>
        </p:txBody>
      </p:sp>
      <p:sp>
        <p:nvSpPr>
          <p:cNvPr id="3" name="Content Placeholder 2">
            <a:extLst>
              <a:ext uri="{FF2B5EF4-FFF2-40B4-BE49-F238E27FC236}">
                <a16:creationId xmlns:a16="http://schemas.microsoft.com/office/drawing/2014/main" id="{949B2845-461F-42B0-BF16-A0E3C8E21476}"/>
              </a:ext>
            </a:extLst>
          </p:cNvPr>
          <p:cNvSpPr>
            <a:spLocks noGrp="1"/>
          </p:cNvSpPr>
          <p:nvPr>
            <p:ph idx="1"/>
          </p:nvPr>
        </p:nvSpPr>
        <p:spPr>
          <a:xfrm>
            <a:off x="838200" y="1766656"/>
            <a:ext cx="10515600" cy="4410307"/>
          </a:xfrm>
        </p:spPr>
        <p:txBody>
          <a:bodyPr>
            <a:normAutofit/>
          </a:bodyPr>
          <a:lstStyle/>
          <a:p>
            <a:endParaRPr lang="en-US" dirty="0"/>
          </a:p>
          <a:p>
            <a:r>
              <a:rPr lang="en-US" dirty="0"/>
              <a:t>Protection of transmitted data from passive attacks</a:t>
            </a:r>
          </a:p>
          <a:p>
            <a:r>
              <a:rPr lang="en-US" dirty="0"/>
              <a:t>Designed to prevent snooping and traffic analysis attack</a:t>
            </a:r>
          </a:p>
          <a:p>
            <a:r>
              <a:rPr lang="en-US" dirty="0"/>
              <a:t>This requires that an attacker not be able to observe the source and destination, frequency, length, or other characteristics of the traffic on a communications facility.</a:t>
            </a:r>
          </a:p>
          <a:p>
            <a:endParaRPr lang="en-US" dirty="0"/>
          </a:p>
        </p:txBody>
      </p:sp>
      <p:pic>
        <p:nvPicPr>
          <p:cNvPr id="5" name="Picture 4">
            <a:extLst>
              <a:ext uri="{FF2B5EF4-FFF2-40B4-BE49-F238E27FC236}">
                <a16:creationId xmlns:a16="http://schemas.microsoft.com/office/drawing/2014/main" id="{58DE6CF6-90F6-48A6-B7D6-2354C744AE1D}"/>
              </a:ext>
            </a:extLst>
          </p:cNvPr>
          <p:cNvPicPr>
            <a:picLocks noChangeAspect="1"/>
          </p:cNvPicPr>
          <p:nvPr/>
        </p:nvPicPr>
        <p:blipFill>
          <a:blip r:embed="rId2"/>
          <a:stretch>
            <a:fillRect/>
          </a:stretch>
        </p:blipFill>
        <p:spPr>
          <a:xfrm>
            <a:off x="838200" y="1243074"/>
            <a:ext cx="8139448" cy="721217"/>
          </a:xfrm>
          <a:prstGeom prst="rect">
            <a:avLst/>
          </a:prstGeom>
        </p:spPr>
      </p:pic>
    </p:spTree>
    <p:extLst>
      <p:ext uri="{BB962C8B-B14F-4D97-AF65-F5344CB8AC3E}">
        <p14:creationId xmlns:p14="http://schemas.microsoft.com/office/powerpoint/2010/main" val="36454191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D4B2A4-F229-40D0-B538-F6A6BE324E01}"/>
              </a:ext>
            </a:extLst>
          </p:cNvPr>
          <p:cNvSpPr>
            <a:spLocks noGrp="1"/>
          </p:cNvSpPr>
          <p:nvPr>
            <p:ph idx="1"/>
          </p:nvPr>
        </p:nvSpPr>
        <p:spPr>
          <a:xfrm>
            <a:off x="571870" y="715917"/>
            <a:ext cx="10515600" cy="4351338"/>
          </a:xfrm>
        </p:spPr>
        <p:txBody>
          <a:bodyPr>
            <a:normAutofit lnSpcReduction="10000"/>
          </a:bodyPr>
          <a:lstStyle/>
          <a:p>
            <a:pPr marL="0" indent="0">
              <a:buNone/>
            </a:pPr>
            <a:r>
              <a:rPr lang="en-US" sz="3600" b="1" dirty="0">
                <a:solidFill>
                  <a:schemeClr val="accent1"/>
                </a:solidFill>
              </a:rPr>
              <a:t>Data Integrity</a:t>
            </a:r>
          </a:p>
          <a:p>
            <a:r>
              <a:rPr lang="en-IN" dirty="0"/>
              <a:t>Designed to protect data from modification, insertion, deletion and replaying by an adversary</a:t>
            </a:r>
          </a:p>
          <a:p>
            <a:r>
              <a:rPr lang="en-IN" dirty="0"/>
              <a:t>Protect the whole message or part of the message.</a:t>
            </a:r>
          </a:p>
          <a:p>
            <a:pPr marL="514350" indent="-514350">
              <a:buFont typeface="+mj-lt"/>
              <a:buAutoNum type="arabicPeriod"/>
            </a:pPr>
            <a:r>
              <a:rPr lang="en-IN" dirty="0">
                <a:solidFill>
                  <a:srgbClr val="C00000"/>
                </a:solidFill>
              </a:rPr>
              <a:t>Connection-oriented integrity service: </a:t>
            </a:r>
            <a:r>
              <a:rPr lang="en-IN" dirty="0"/>
              <a:t>D</a:t>
            </a:r>
            <a:r>
              <a:rPr lang="en-US" dirty="0" err="1"/>
              <a:t>eals</a:t>
            </a:r>
            <a:r>
              <a:rPr lang="en-US" dirty="0"/>
              <a:t> with a stream of messages, assures that messages are received as sent with no duplication, insertion, modification, reordering, or replays. The destruction of data is also covered under this service.</a:t>
            </a:r>
          </a:p>
          <a:p>
            <a:pPr marL="514350" indent="-514350">
              <a:buFont typeface="+mj-lt"/>
              <a:buAutoNum type="arabicPeriod"/>
            </a:pPr>
            <a:r>
              <a:rPr lang="en-IN" dirty="0">
                <a:solidFill>
                  <a:srgbClr val="C00000"/>
                </a:solidFill>
              </a:rPr>
              <a:t>Connectionless integrity service: </a:t>
            </a:r>
            <a:r>
              <a:rPr lang="en-IN" dirty="0"/>
              <a:t>G</a:t>
            </a:r>
            <a:r>
              <a:rPr lang="en-US" dirty="0" err="1"/>
              <a:t>enerally</a:t>
            </a:r>
            <a:r>
              <a:rPr lang="en-US" dirty="0"/>
              <a:t> provides protection against message modification only</a:t>
            </a:r>
            <a:endParaRPr lang="en-IN" dirty="0">
              <a:solidFill>
                <a:srgbClr val="C00000"/>
              </a:solidFill>
            </a:endParaRPr>
          </a:p>
          <a:p>
            <a:endParaRPr lang="en-IN" dirty="0"/>
          </a:p>
        </p:txBody>
      </p:sp>
    </p:spTree>
    <p:extLst>
      <p:ext uri="{BB962C8B-B14F-4D97-AF65-F5344CB8AC3E}">
        <p14:creationId xmlns:p14="http://schemas.microsoft.com/office/powerpoint/2010/main" val="1044241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C38DDAF-7A8E-439D-AF87-AE7884E960A3}"/>
              </a:ext>
            </a:extLst>
          </p:cNvPr>
          <p:cNvPicPr>
            <a:picLocks noChangeAspect="1"/>
          </p:cNvPicPr>
          <p:nvPr/>
        </p:nvPicPr>
        <p:blipFill>
          <a:blip r:embed="rId2"/>
          <a:stretch>
            <a:fillRect/>
          </a:stretch>
        </p:blipFill>
        <p:spPr>
          <a:xfrm>
            <a:off x="1316938" y="432532"/>
            <a:ext cx="7747163" cy="3760390"/>
          </a:xfrm>
          <a:prstGeom prst="rect">
            <a:avLst/>
          </a:prstGeom>
        </p:spPr>
      </p:pic>
    </p:spTree>
    <p:extLst>
      <p:ext uri="{BB962C8B-B14F-4D97-AF65-F5344CB8AC3E}">
        <p14:creationId xmlns:p14="http://schemas.microsoft.com/office/powerpoint/2010/main" val="3802362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ABA99-EFBD-426C-B996-76F8C65348D4}"/>
              </a:ext>
            </a:extLst>
          </p:cNvPr>
          <p:cNvSpPr>
            <a:spLocks noGrp="1"/>
          </p:cNvSpPr>
          <p:nvPr>
            <p:ph type="title"/>
          </p:nvPr>
        </p:nvSpPr>
        <p:spPr/>
        <p:txBody>
          <a:bodyPr/>
          <a:lstStyle/>
          <a:p>
            <a:r>
              <a:rPr lang="en-US" b="1" dirty="0">
                <a:solidFill>
                  <a:schemeClr val="accent1"/>
                </a:solidFill>
              </a:rPr>
              <a:t>Non Repudiation</a:t>
            </a:r>
            <a:endParaRPr lang="en-IN" b="1" dirty="0">
              <a:solidFill>
                <a:schemeClr val="accent1"/>
              </a:solidFill>
            </a:endParaRPr>
          </a:p>
        </p:txBody>
      </p:sp>
      <p:sp>
        <p:nvSpPr>
          <p:cNvPr id="3" name="Content Placeholder 2">
            <a:extLst>
              <a:ext uri="{FF2B5EF4-FFF2-40B4-BE49-F238E27FC236}">
                <a16:creationId xmlns:a16="http://schemas.microsoft.com/office/drawing/2014/main" id="{B75C81EF-33B0-448A-9862-2DB1B4F616F1}"/>
              </a:ext>
            </a:extLst>
          </p:cNvPr>
          <p:cNvSpPr>
            <a:spLocks noGrp="1"/>
          </p:cNvSpPr>
          <p:nvPr>
            <p:ph idx="1"/>
          </p:nvPr>
        </p:nvSpPr>
        <p:spPr/>
        <p:txBody>
          <a:bodyPr/>
          <a:lstStyle/>
          <a:p>
            <a:r>
              <a:rPr lang="en-US" dirty="0"/>
              <a:t>Protects against repudiation by either the sender or the receiver of the data.</a:t>
            </a:r>
          </a:p>
          <a:p>
            <a:pPr marL="0" indent="0">
              <a:buNone/>
            </a:pPr>
            <a:r>
              <a:rPr lang="en-US" b="1" dirty="0">
                <a:solidFill>
                  <a:srgbClr val="FFC000"/>
                </a:solidFill>
              </a:rPr>
              <a:t>Non repudiation with proof of the origin</a:t>
            </a:r>
            <a:r>
              <a:rPr lang="en-US" dirty="0"/>
              <a:t>: The receiver of the data can later prove the identity of the sender if denied.</a:t>
            </a:r>
          </a:p>
          <a:p>
            <a:pPr marL="0" indent="0">
              <a:buNone/>
            </a:pPr>
            <a:r>
              <a:rPr lang="en-US" b="1" dirty="0">
                <a:solidFill>
                  <a:srgbClr val="FFC000"/>
                </a:solidFill>
              </a:rPr>
              <a:t>Non repudiation with proof delivery</a:t>
            </a:r>
            <a:r>
              <a:rPr lang="en-US" dirty="0"/>
              <a:t>: The sender of the data can later prove that the data were delivered to the intended recipient.</a:t>
            </a:r>
            <a:endParaRPr lang="en-IN" dirty="0"/>
          </a:p>
        </p:txBody>
      </p:sp>
    </p:spTree>
    <p:extLst>
      <p:ext uri="{BB962C8B-B14F-4D97-AF65-F5344CB8AC3E}">
        <p14:creationId xmlns:p14="http://schemas.microsoft.com/office/powerpoint/2010/main" val="24927485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770F0-27E0-4FFD-8D98-5E3B4AAEC8FC}"/>
              </a:ext>
            </a:extLst>
          </p:cNvPr>
          <p:cNvSpPr>
            <a:spLocks noGrp="1"/>
          </p:cNvSpPr>
          <p:nvPr>
            <p:ph type="title"/>
          </p:nvPr>
        </p:nvSpPr>
        <p:spPr/>
        <p:txBody>
          <a:bodyPr/>
          <a:lstStyle/>
          <a:p>
            <a:r>
              <a:rPr lang="en-US" b="1" dirty="0">
                <a:solidFill>
                  <a:schemeClr val="accent1"/>
                </a:solidFill>
              </a:rPr>
              <a:t>Access control</a:t>
            </a:r>
            <a:endParaRPr lang="en-IN" b="1" dirty="0">
              <a:solidFill>
                <a:schemeClr val="accent1"/>
              </a:solidFill>
            </a:endParaRPr>
          </a:p>
        </p:txBody>
      </p:sp>
      <p:sp>
        <p:nvSpPr>
          <p:cNvPr id="3" name="Content Placeholder 2">
            <a:extLst>
              <a:ext uri="{FF2B5EF4-FFF2-40B4-BE49-F238E27FC236}">
                <a16:creationId xmlns:a16="http://schemas.microsoft.com/office/drawing/2014/main" id="{7AF7E062-F97B-4A22-AEA0-84C0C04D2D28}"/>
              </a:ext>
            </a:extLst>
          </p:cNvPr>
          <p:cNvSpPr>
            <a:spLocks noGrp="1"/>
          </p:cNvSpPr>
          <p:nvPr>
            <p:ph idx="1"/>
          </p:nvPr>
        </p:nvSpPr>
        <p:spPr/>
        <p:txBody>
          <a:bodyPr/>
          <a:lstStyle/>
          <a:p>
            <a:r>
              <a:rPr lang="en-US" dirty="0"/>
              <a:t>Provides protection against unauthorized access to data</a:t>
            </a:r>
          </a:p>
          <a:p>
            <a:r>
              <a:rPr lang="en-US" dirty="0"/>
              <a:t>The term access involves reading, writing, modifying, executing programs and so on.</a:t>
            </a:r>
            <a:endParaRPr lang="en-IN" dirty="0"/>
          </a:p>
        </p:txBody>
      </p:sp>
    </p:spTree>
    <p:extLst>
      <p:ext uri="{BB962C8B-B14F-4D97-AF65-F5344CB8AC3E}">
        <p14:creationId xmlns:p14="http://schemas.microsoft.com/office/powerpoint/2010/main" val="1176364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8EADA-5576-4648-A741-12733E0B8A95}"/>
              </a:ext>
            </a:extLst>
          </p:cNvPr>
          <p:cNvSpPr>
            <a:spLocks noGrp="1"/>
          </p:cNvSpPr>
          <p:nvPr>
            <p:ph type="title"/>
          </p:nvPr>
        </p:nvSpPr>
        <p:spPr/>
        <p:txBody>
          <a:bodyPr/>
          <a:lstStyle/>
          <a:p>
            <a:pPr algn="ctr"/>
            <a:r>
              <a:rPr lang="en-US" b="1" dirty="0">
                <a:solidFill>
                  <a:schemeClr val="accent4">
                    <a:lumMod val="50000"/>
                  </a:schemeClr>
                </a:solidFill>
              </a:rPr>
              <a:t>Security Mechanisms</a:t>
            </a:r>
            <a:endParaRPr lang="en-IN" b="1" dirty="0">
              <a:solidFill>
                <a:schemeClr val="accent4">
                  <a:lumMod val="50000"/>
                </a:schemeClr>
              </a:solidFill>
            </a:endParaRPr>
          </a:p>
        </p:txBody>
      </p:sp>
      <p:sp>
        <p:nvSpPr>
          <p:cNvPr id="3" name="Content Placeholder 2">
            <a:extLst>
              <a:ext uri="{FF2B5EF4-FFF2-40B4-BE49-F238E27FC236}">
                <a16:creationId xmlns:a16="http://schemas.microsoft.com/office/drawing/2014/main" id="{7E0EA0D6-5103-4DA2-86C9-601B09CDCD29}"/>
              </a:ext>
            </a:extLst>
          </p:cNvPr>
          <p:cNvSpPr>
            <a:spLocks noGrp="1"/>
          </p:cNvSpPr>
          <p:nvPr>
            <p:ph idx="1"/>
          </p:nvPr>
        </p:nvSpPr>
        <p:spPr>
          <a:xfrm>
            <a:off x="1113408" y="1372864"/>
            <a:ext cx="10515600" cy="4351338"/>
          </a:xfrm>
        </p:spPr>
        <p:txBody>
          <a:bodyPr/>
          <a:lstStyle/>
          <a:p>
            <a:r>
              <a:rPr lang="en-US" dirty="0"/>
              <a:t>ITU-T(X.800) recommends some security mechanisms to provide security services</a:t>
            </a:r>
            <a:endParaRPr lang="en-IN" dirty="0"/>
          </a:p>
        </p:txBody>
      </p:sp>
      <p:pic>
        <p:nvPicPr>
          <p:cNvPr id="7" name="Picture 6">
            <a:extLst>
              <a:ext uri="{FF2B5EF4-FFF2-40B4-BE49-F238E27FC236}">
                <a16:creationId xmlns:a16="http://schemas.microsoft.com/office/drawing/2014/main" id="{72691C33-CF11-4088-871F-E6A84539EF5A}"/>
              </a:ext>
            </a:extLst>
          </p:cNvPr>
          <p:cNvPicPr>
            <a:picLocks noChangeAspect="1"/>
          </p:cNvPicPr>
          <p:nvPr/>
        </p:nvPicPr>
        <p:blipFill>
          <a:blip r:embed="rId2"/>
          <a:stretch>
            <a:fillRect/>
          </a:stretch>
        </p:blipFill>
        <p:spPr>
          <a:xfrm>
            <a:off x="1191399" y="2408349"/>
            <a:ext cx="9523949" cy="2474665"/>
          </a:xfrm>
          <a:prstGeom prst="rect">
            <a:avLst/>
          </a:prstGeom>
        </p:spPr>
      </p:pic>
    </p:spTree>
    <p:extLst>
      <p:ext uri="{BB962C8B-B14F-4D97-AF65-F5344CB8AC3E}">
        <p14:creationId xmlns:p14="http://schemas.microsoft.com/office/powerpoint/2010/main" val="15738251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CA964EF-323E-4A24-9326-49EF5911832D}"/>
              </a:ext>
            </a:extLst>
          </p:cNvPr>
          <p:cNvSpPr>
            <a:spLocks noGrp="1"/>
          </p:cNvSpPr>
          <p:nvPr>
            <p:ph type="title"/>
          </p:nvPr>
        </p:nvSpPr>
        <p:spPr/>
        <p:txBody>
          <a:bodyPr/>
          <a:lstStyle/>
          <a:p>
            <a:r>
              <a:rPr lang="en-US" b="1" dirty="0">
                <a:solidFill>
                  <a:schemeClr val="accent1"/>
                </a:solidFill>
              </a:rPr>
              <a:t>Specific Security Mechanisms</a:t>
            </a:r>
            <a:endParaRPr lang="en-IN" b="1" dirty="0">
              <a:solidFill>
                <a:schemeClr val="accent1"/>
              </a:solidFill>
            </a:endParaRPr>
          </a:p>
        </p:txBody>
      </p:sp>
      <p:pic>
        <p:nvPicPr>
          <p:cNvPr id="6" name="Content Placeholder 5">
            <a:extLst>
              <a:ext uri="{FF2B5EF4-FFF2-40B4-BE49-F238E27FC236}">
                <a16:creationId xmlns:a16="http://schemas.microsoft.com/office/drawing/2014/main" id="{3CF2A406-69EA-4C8F-AA57-363BE1F8004E}"/>
              </a:ext>
            </a:extLst>
          </p:cNvPr>
          <p:cNvPicPr>
            <a:picLocks noGrp="1" noChangeAspect="1"/>
          </p:cNvPicPr>
          <p:nvPr>
            <p:ph idx="1"/>
          </p:nvPr>
        </p:nvPicPr>
        <p:blipFill>
          <a:blip r:embed="rId2"/>
          <a:stretch>
            <a:fillRect/>
          </a:stretch>
        </p:blipFill>
        <p:spPr>
          <a:xfrm>
            <a:off x="2211456" y="1260032"/>
            <a:ext cx="5130377" cy="4827654"/>
          </a:xfrm>
          <a:prstGeom prst="rect">
            <a:avLst/>
          </a:prstGeom>
        </p:spPr>
      </p:pic>
    </p:spTree>
    <p:extLst>
      <p:ext uri="{BB962C8B-B14F-4D97-AF65-F5344CB8AC3E}">
        <p14:creationId xmlns:p14="http://schemas.microsoft.com/office/powerpoint/2010/main" val="3564629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ED333A-159B-4233-9E09-269D7599B2CD}"/>
              </a:ext>
            </a:extLst>
          </p:cNvPr>
          <p:cNvSpPr>
            <a:spLocks noGrp="1"/>
          </p:cNvSpPr>
          <p:nvPr>
            <p:ph idx="1"/>
          </p:nvPr>
        </p:nvSpPr>
        <p:spPr>
          <a:xfrm>
            <a:off x="616258" y="414075"/>
            <a:ext cx="10515600" cy="2338003"/>
          </a:xfrm>
        </p:spPr>
        <p:txBody>
          <a:bodyPr/>
          <a:lstStyle/>
          <a:p>
            <a:pPr marL="457200" lvl="1" indent="0">
              <a:buNone/>
            </a:pPr>
            <a:r>
              <a:rPr lang="en-US" b="1" dirty="0">
                <a:solidFill>
                  <a:schemeClr val="accent1"/>
                </a:solidFill>
              </a:rPr>
              <a:t>Encipherment: </a:t>
            </a:r>
            <a:r>
              <a:rPr lang="en-US" dirty="0"/>
              <a:t>Hiding or covering data provide confidentiality. </a:t>
            </a:r>
          </a:p>
          <a:p>
            <a:pPr marL="457200" lvl="1" indent="0">
              <a:buNone/>
            </a:pPr>
            <a:r>
              <a:rPr lang="en-US" dirty="0"/>
              <a:t>The use of mathematical algorithms to transform data into a form that is not readily intelligible. </a:t>
            </a:r>
          </a:p>
          <a:p>
            <a:pPr marL="457200" lvl="1" indent="0">
              <a:buNone/>
            </a:pPr>
            <a:r>
              <a:rPr lang="en-US" dirty="0"/>
              <a:t>The transformation and subsequent recovery of the data depend on an algorithm and zero or more encryption keys.</a:t>
            </a:r>
          </a:p>
          <a:p>
            <a:pPr marL="457200" lvl="1" indent="0">
              <a:buNone/>
            </a:pPr>
            <a:r>
              <a:rPr lang="en-US" dirty="0"/>
              <a:t>Enciphering Techniques: Cryptography and Steganography</a:t>
            </a:r>
            <a:endParaRPr lang="en-IN" dirty="0"/>
          </a:p>
        </p:txBody>
      </p:sp>
      <p:sp>
        <p:nvSpPr>
          <p:cNvPr id="4" name="TextBox 3">
            <a:extLst>
              <a:ext uri="{FF2B5EF4-FFF2-40B4-BE49-F238E27FC236}">
                <a16:creationId xmlns:a16="http://schemas.microsoft.com/office/drawing/2014/main" id="{BE93CD61-DCE6-4145-AE46-BDD925B9BF30}"/>
              </a:ext>
            </a:extLst>
          </p:cNvPr>
          <p:cNvSpPr txBox="1"/>
          <p:nvPr/>
        </p:nvSpPr>
        <p:spPr>
          <a:xfrm>
            <a:off x="1049044" y="2997618"/>
            <a:ext cx="9312676" cy="461665"/>
          </a:xfrm>
          <a:prstGeom prst="rect">
            <a:avLst/>
          </a:prstGeom>
          <a:noFill/>
        </p:spPr>
        <p:txBody>
          <a:bodyPr wrap="square" rtlCol="0">
            <a:spAutoFit/>
          </a:bodyPr>
          <a:lstStyle/>
          <a:p>
            <a:r>
              <a:rPr lang="en-US" sz="2400" b="1" dirty="0">
                <a:solidFill>
                  <a:schemeClr val="accent1"/>
                </a:solidFill>
              </a:rPr>
              <a:t>Data Integrity:</a:t>
            </a:r>
            <a:endParaRPr lang="en-IN" sz="2400" b="1" dirty="0">
              <a:solidFill>
                <a:schemeClr val="accent1"/>
              </a:solidFill>
            </a:endParaRPr>
          </a:p>
        </p:txBody>
      </p:sp>
      <p:pic>
        <p:nvPicPr>
          <p:cNvPr id="8" name="Picture 7">
            <a:extLst>
              <a:ext uri="{FF2B5EF4-FFF2-40B4-BE49-F238E27FC236}">
                <a16:creationId xmlns:a16="http://schemas.microsoft.com/office/drawing/2014/main" id="{E07C3E81-D589-445E-B4B9-A4F4C1DB4CB9}"/>
              </a:ext>
            </a:extLst>
          </p:cNvPr>
          <p:cNvPicPr>
            <a:picLocks noChangeAspect="1"/>
          </p:cNvPicPr>
          <p:nvPr/>
        </p:nvPicPr>
        <p:blipFill>
          <a:blip r:embed="rId2"/>
          <a:stretch>
            <a:fillRect/>
          </a:stretch>
        </p:blipFill>
        <p:spPr>
          <a:xfrm>
            <a:off x="1166767" y="3573449"/>
            <a:ext cx="10546218" cy="1930706"/>
          </a:xfrm>
          <a:prstGeom prst="rect">
            <a:avLst/>
          </a:prstGeom>
        </p:spPr>
      </p:pic>
    </p:spTree>
    <p:extLst>
      <p:ext uri="{BB962C8B-B14F-4D97-AF65-F5344CB8AC3E}">
        <p14:creationId xmlns:p14="http://schemas.microsoft.com/office/powerpoint/2010/main" val="1961672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50855A-7392-48D6-9A62-A03A220409EF}"/>
              </a:ext>
            </a:extLst>
          </p:cNvPr>
          <p:cNvSpPr>
            <a:spLocks noGrp="1"/>
          </p:cNvSpPr>
          <p:nvPr>
            <p:ph idx="1"/>
          </p:nvPr>
        </p:nvSpPr>
        <p:spPr>
          <a:xfrm>
            <a:off x="669524" y="405198"/>
            <a:ext cx="10515600" cy="6253054"/>
          </a:xfrm>
        </p:spPr>
        <p:txBody>
          <a:bodyPr>
            <a:normAutofit/>
          </a:bodyPr>
          <a:lstStyle/>
          <a:p>
            <a:pPr marL="0" indent="0">
              <a:buNone/>
            </a:pPr>
            <a:r>
              <a:rPr lang="en-US" b="1" dirty="0">
                <a:solidFill>
                  <a:schemeClr val="accent1"/>
                </a:solidFill>
              </a:rPr>
              <a:t> Digital Signature</a:t>
            </a:r>
          </a:p>
          <a:p>
            <a:r>
              <a:rPr lang="en-US" dirty="0"/>
              <a:t>The sender can electronically sign the data and the receiver can electronically verify the signature</a:t>
            </a:r>
          </a:p>
          <a:p>
            <a:r>
              <a:rPr lang="en-US" dirty="0"/>
              <a:t>Data appended to, or a cryptographic transformation of, a data unit that allows a recipient of the data unit to prove the source and integrity of the data unit and protect against forgery</a:t>
            </a:r>
          </a:p>
          <a:p>
            <a:pPr marL="0" indent="0">
              <a:buNone/>
            </a:pPr>
            <a:r>
              <a:rPr lang="en-IN" b="1" dirty="0">
                <a:solidFill>
                  <a:schemeClr val="accent1"/>
                </a:solidFill>
              </a:rPr>
              <a:t>Authentication Exchange</a:t>
            </a:r>
          </a:p>
          <a:p>
            <a:r>
              <a:rPr lang="en-IN" dirty="0"/>
              <a:t>Two entities exchange some messages to prove their identities to </a:t>
            </a:r>
            <a:r>
              <a:rPr lang="en-IN" dirty="0" err="1"/>
              <a:t>eachother</a:t>
            </a:r>
            <a:r>
              <a:rPr lang="en-IN" dirty="0"/>
              <a:t>.</a:t>
            </a:r>
          </a:p>
          <a:p>
            <a:pPr marL="0" indent="0">
              <a:buNone/>
            </a:pPr>
            <a:r>
              <a:rPr lang="en-US" b="1" dirty="0">
                <a:solidFill>
                  <a:schemeClr val="accent1"/>
                </a:solidFill>
              </a:rPr>
              <a:t>Traffic Padding </a:t>
            </a:r>
          </a:p>
          <a:p>
            <a:r>
              <a:rPr lang="en-US" dirty="0"/>
              <a:t>The insertion of bits into gaps in a data stream to frustrate </a:t>
            </a:r>
            <a:r>
              <a:rPr lang="en-US" dirty="0">
                <a:solidFill>
                  <a:srgbClr val="FF0000"/>
                </a:solidFill>
              </a:rPr>
              <a:t>traffic analysis</a:t>
            </a:r>
            <a:r>
              <a:rPr lang="en-US" dirty="0"/>
              <a:t> attempts. </a:t>
            </a:r>
            <a:endParaRPr lang="en-IN" dirty="0"/>
          </a:p>
        </p:txBody>
      </p:sp>
    </p:spTree>
    <p:extLst>
      <p:ext uri="{BB962C8B-B14F-4D97-AF65-F5344CB8AC3E}">
        <p14:creationId xmlns:p14="http://schemas.microsoft.com/office/powerpoint/2010/main" val="20168140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DDCDDC-FF14-4F6F-BD31-5C7736AF5F17}"/>
              </a:ext>
            </a:extLst>
          </p:cNvPr>
          <p:cNvSpPr>
            <a:spLocks noGrp="1"/>
          </p:cNvSpPr>
          <p:nvPr>
            <p:ph idx="1"/>
          </p:nvPr>
        </p:nvSpPr>
        <p:spPr>
          <a:xfrm>
            <a:off x="838200" y="408373"/>
            <a:ext cx="10515600" cy="5768590"/>
          </a:xfrm>
        </p:spPr>
        <p:txBody>
          <a:bodyPr/>
          <a:lstStyle/>
          <a:p>
            <a:pPr marL="0" indent="0">
              <a:buNone/>
            </a:pPr>
            <a:r>
              <a:rPr lang="en-US" b="1" dirty="0">
                <a:solidFill>
                  <a:schemeClr val="accent1"/>
                </a:solidFill>
              </a:rPr>
              <a:t>Routing Control </a:t>
            </a:r>
          </a:p>
          <a:p>
            <a:pPr marL="0" indent="0">
              <a:buNone/>
            </a:pPr>
            <a:r>
              <a:rPr lang="en-US" dirty="0"/>
              <a:t>Enables selection of particular physically secure routes for certain data and allows routing changes, especially when a breach of security is suspected. </a:t>
            </a:r>
          </a:p>
          <a:p>
            <a:pPr marL="0" indent="0">
              <a:buNone/>
            </a:pPr>
            <a:endParaRPr lang="en-IN" b="1" dirty="0">
              <a:solidFill>
                <a:schemeClr val="accent1"/>
              </a:solidFill>
            </a:endParaRPr>
          </a:p>
          <a:p>
            <a:pPr marL="0" indent="0">
              <a:buNone/>
            </a:pPr>
            <a:r>
              <a:rPr lang="en-IN" b="1" dirty="0">
                <a:solidFill>
                  <a:schemeClr val="accent1"/>
                </a:solidFill>
              </a:rPr>
              <a:t>Notarization</a:t>
            </a:r>
          </a:p>
          <a:p>
            <a:endParaRPr lang="en-IN" b="1" dirty="0">
              <a:solidFill>
                <a:schemeClr val="accent1"/>
              </a:solidFill>
            </a:endParaRPr>
          </a:p>
          <a:p>
            <a:pPr marL="0" indent="0">
              <a:buNone/>
            </a:pPr>
            <a:endParaRPr lang="en-IN" b="1" dirty="0">
              <a:solidFill>
                <a:schemeClr val="accent1"/>
              </a:solidFill>
            </a:endParaRPr>
          </a:p>
        </p:txBody>
      </p:sp>
      <p:pic>
        <p:nvPicPr>
          <p:cNvPr id="9" name="Picture 8">
            <a:extLst>
              <a:ext uri="{FF2B5EF4-FFF2-40B4-BE49-F238E27FC236}">
                <a16:creationId xmlns:a16="http://schemas.microsoft.com/office/drawing/2014/main" id="{806906FA-6142-4CFA-97C4-92C32C481330}"/>
              </a:ext>
            </a:extLst>
          </p:cNvPr>
          <p:cNvPicPr>
            <a:picLocks noChangeAspect="1"/>
          </p:cNvPicPr>
          <p:nvPr/>
        </p:nvPicPr>
        <p:blipFill>
          <a:blip r:embed="rId2"/>
          <a:stretch>
            <a:fillRect/>
          </a:stretch>
        </p:blipFill>
        <p:spPr>
          <a:xfrm>
            <a:off x="838200" y="3153536"/>
            <a:ext cx="10517374" cy="1560505"/>
          </a:xfrm>
          <a:prstGeom prst="rect">
            <a:avLst/>
          </a:prstGeom>
        </p:spPr>
      </p:pic>
      <p:sp>
        <p:nvSpPr>
          <p:cNvPr id="11" name="TextBox 10">
            <a:extLst>
              <a:ext uri="{FF2B5EF4-FFF2-40B4-BE49-F238E27FC236}">
                <a16:creationId xmlns:a16="http://schemas.microsoft.com/office/drawing/2014/main" id="{3A798FC6-77C1-45B7-AF35-257714484C99}"/>
              </a:ext>
            </a:extLst>
          </p:cNvPr>
          <p:cNvSpPr txBox="1"/>
          <p:nvPr/>
        </p:nvSpPr>
        <p:spPr>
          <a:xfrm>
            <a:off x="836426" y="4891504"/>
            <a:ext cx="6094520" cy="523220"/>
          </a:xfrm>
          <a:prstGeom prst="rect">
            <a:avLst/>
          </a:prstGeom>
          <a:noFill/>
        </p:spPr>
        <p:txBody>
          <a:bodyPr wrap="square">
            <a:spAutoFit/>
          </a:bodyPr>
          <a:lstStyle/>
          <a:p>
            <a:r>
              <a:rPr lang="en-IN" sz="2800" b="1" dirty="0">
                <a:solidFill>
                  <a:schemeClr val="accent1"/>
                </a:solidFill>
              </a:rPr>
              <a:t>Access Control</a:t>
            </a:r>
          </a:p>
        </p:txBody>
      </p:sp>
      <p:pic>
        <p:nvPicPr>
          <p:cNvPr id="13" name="Picture 12">
            <a:extLst>
              <a:ext uri="{FF2B5EF4-FFF2-40B4-BE49-F238E27FC236}">
                <a16:creationId xmlns:a16="http://schemas.microsoft.com/office/drawing/2014/main" id="{61B98A56-B114-4B99-AD33-F3A4BD581FBC}"/>
              </a:ext>
            </a:extLst>
          </p:cNvPr>
          <p:cNvPicPr>
            <a:picLocks noChangeAspect="1"/>
          </p:cNvPicPr>
          <p:nvPr/>
        </p:nvPicPr>
        <p:blipFill>
          <a:blip r:embed="rId3"/>
          <a:stretch>
            <a:fillRect/>
          </a:stretch>
        </p:blipFill>
        <p:spPr>
          <a:xfrm>
            <a:off x="836426" y="5463398"/>
            <a:ext cx="10515600" cy="848031"/>
          </a:xfrm>
          <a:prstGeom prst="rect">
            <a:avLst/>
          </a:prstGeom>
        </p:spPr>
      </p:pic>
    </p:spTree>
    <p:extLst>
      <p:ext uri="{BB962C8B-B14F-4D97-AF65-F5344CB8AC3E}">
        <p14:creationId xmlns:p14="http://schemas.microsoft.com/office/powerpoint/2010/main" val="27787072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C144387-A680-44C8-80D9-4942CA3488F5}"/>
              </a:ext>
            </a:extLst>
          </p:cNvPr>
          <p:cNvSpPr txBox="1"/>
          <p:nvPr/>
        </p:nvSpPr>
        <p:spPr>
          <a:xfrm>
            <a:off x="712803" y="-84442"/>
            <a:ext cx="10348774" cy="6432530"/>
          </a:xfrm>
          <a:prstGeom prst="rect">
            <a:avLst/>
          </a:prstGeom>
          <a:noFill/>
        </p:spPr>
        <p:txBody>
          <a:bodyPr wrap="square">
            <a:spAutoFit/>
          </a:bodyPr>
          <a:lstStyle/>
          <a:p>
            <a:pPr algn="ctr"/>
            <a:r>
              <a:rPr lang="en-US" sz="2800" b="1" dirty="0">
                <a:solidFill>
                  <a:schemeClr val="accent1"/>
                </a:solidFill>
              </a:rPr>
              <a:t>PERVASIVE SECURITY MECHANISMS </a:t>
            </a:r>
          </a:p>
          <a:p>
            <a:r>
              <a:rPr lang="en-US" sz="2400" dirty="0"/>
              <a:t>Mechanisms that are not specific to any particular OSI security service or protocol layer. </a:t>
            </a:r>
          </a:p>
          <a:p>
            <a:r>
              <a:rPr lang="en-US" sz="2400" b="1" dirty="0">
                <a:solidFill>
                  <a:schemeClr val="accent1"/>
                </a:solidFill>
              </a:rPr>
              <a:t>Trusted Functionality </a:t>
            </a:r>
            <a:r>
              <a:rPr lang="en-US" sz="2400" dirty="0"/>
              <a:t>That which is perceived to be correct with respect to some criteria (e.g., as established by a security policy). </a:t>
            </a:r>
          </a:p>
          <a:p>
            <a:endParaRPr lang="en-US" sz="2400" dirty="0"/>
          </a:p>
          <a:p>
            <a:r>
              <a:rPr lang="en-US" sz="2400" b="1" dirty="0">
                <a:solidFill>
                  <a:schemeClr val="accent1"/>
                </a:solidFill>
              </a:rPr>
              <a:t>Security Label </a:t>
            </a:r>
            <a:r>
              <a:rPr lang="en-US" sz="2400" dirty="0"/>
              <a:t>The marking bound to a resource (which may be a data unit) that names or designates the security attributes of that resource.</a:t>
            </a:r>
          </a:p>
          <a:p>
            <a:r>
              <a:rPr lang="en-US" sz="2400" dirty="0"/>
              <a:t> </a:t>
            </a:r>
          </a:p>
          <a:p>
            <a:r>
              <a:rPr lang="en-US" sz="2400" b="1" dirty="0">
                <a:solidFill>
                  <a:schemeClr val="accent1"/>
                </a:solidFill>
              </a:rPr>
              <a:t>Event Detection </a:t>
            </a:r>
            <a:r>
              <a:rPr lang="en-US" sz="2400" dirty="0" err="1"/>
              <a:t>Detection</a:t>
            </a:r>
            <a:r>
              <a:rPr lang="en-US" sz="2400" dirty="0"/>
              <a:t> of security-relevant events. </a:t>
            </a:r>
          </a:p>
          <a:p>
            <a:endParaRPr lang="en-US" sz="2400" dirty="0"/>
          </a:p>
          <a:p>
            <a:r>
              <a:rPr lang="en-US" sz="2400" b="1" dirty="0">
                <a:solidFill>
                  <a:schemeClr val="accent1"/>
                </a:solidFill>
              </a:rPr>
              <a:t>Security Audit Trail </a:t>
            </a:r>
            <a:r>
              <a:rPr lang="en-US" sz="2400" dirty="0"/>
              <a:t>Data collected and potentially used to facilitate a security audit, which is an independent review and examination of system records and activities. </a:t>
            </a:r>
          </a:p>
          <a:p>
            <a:endParaRPr lang="en-US" sz="2400" dirty="0"/>
          </a:p>
          <a:p>
            <a:r>
              <a:rPr lang="en-US" sz="2400" b="1" dirty="0">
                <a:solidFill>
                  <a:schemeClr val="accent1"/>
                </a:solidFill>
              </a:rPr>
              <a:t>Security Recovery </a:t>
            </a:r>
            <a:r>
              <a:rPr lang="en-US" sz="2400" dirty="0"/>
              <a:t>Deals with requests from mechanisms, such as event handling and management functions, and takes recovery actions.</a:t>
            </a:r>
            <a:endParaRPr lang="en-IN" sz="2400" dirty="0"/>
          </a:p>
        </p:txBody>
      </p:sp>
    </p:spTree>
    <p:extLst>
      <p:ext uri="{BB962C8B-B14F-4D97-AF65-F5344CB8AC3E}">
        <p14:creationId xmlns:p14="http://schemas.microsoft.com/office/powerpoint/2010/main" val="9858833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4F40E2-0430-479B-876D-7B2E87014C49}"/>
              </a:ext>
            </a:extLst>
          </p:cNvPr>
          <p:cNvPicPr>
            <a:picLocks noChangeAspect="1"/>
          </p:cNvPicPr>
          <p:nvPr/>
        </p:nvPicPr>
        <p:blipFill>
          <a:blip r:embed="rId2"/>
          <a:stretch>
            <a:fillRect/>
          </a:stretch>
        </p:blipFill>
        <p:spPr>
          <a:xfrm>
            <a:off x="2938175" y="661855"/>
            <a:ext cx="5640946" cy="811369"/>
          </a:xfrm>
          <a:prstGeom prst="rect">
            <a:avLst/>
          </a:prstGeom>
        </p:spPr>
      </p:pic>
      <p:pic>
        <p:nvPicPr>
          <p:cNvPr id="9" name="Picture 8">
            <a:extLst>
              <a:ext uri="{FF2B5EF4-FFF2-40B4-BE49-F238E27FC236}">
                <a16:creationId xmlns:a16="http://schemas.microsoft.com/office/drawing/2014/main" id="{CD64AB35-ECB3-474D-B7CB-D03B74A61CB6}"/>
              </a:ext>
            </a:extLst>
          </p:cNvPr>
          <p:cNvPicPr>
            <a:picLocks noChangeAspect="1"/>
          </p:cNvPicPr>
          <p:nvPr/>
        </p:nvPicPr>
        <p:blipFill>
          <a:blip r:embed="rId3"/>
          <a:stretch>
            <a:fillRect/>
          </a:stretch>
        </p:blipFill>
        <p:spPr>
          <a:xfrm>
            <a:off x="1047981" y="1544277"/>
            <a:ext cx="11207148" cy="3152010"/>
          </a:xfrm>
          <a:prstGeom prst="rect">
            <a:avLst/>
          </a:prstGeom>
        </p:spPr>
      </p:pic>
    </p:spTree>
    <p:extLst>
      <p:ext uri="{BB962C8B-B14F-4D97-AF65-F5344CB8AC3E}">
        <p14:creationId xmlns:p14="http://schemas.microsoft.com/office/powerpoint/2010/main" val="4677864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1710</TotalTime>
  <Words>932</Words>
  <Application>Microsoft Office PowerPoint</Application>
  <PresentationFormat>Widescreen</PresentationFormat>
  <Paragraphs>76</Paragraphs>
  <Slides>31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31</vt:i4>
      </vt:variant>
    </vt:vector>
  </HeadingPairs>
  <TitlesOfParts>
    <vt:vector size="41" baseType="lpstr">
      <vt:lpstr>Arial</vt:lpstr>
      <vt:lpstr>Arial Black</vt:lpstr>
      <vt:lpstr>BemboMTPro-ExtraBold</vt:lpstr>
      <vt:lpstr>Calibri</vt:lpstr>
      <vt:lpstr>Calibri Light</vt:lpstr>
      <vt:lpstr>Times New Roman</vt:lpstr>
      <vt:lpstr>TimesTenLTStd-Bold</vt:lpstr>
      <vt:lpstr>TimesTenLTStd-Roman</vt:lpstr>
      <vt:lpstr>ZapfDingbatsStd</vt:lpstr>
      <vt:lpstr>Office Theme</vt:lpstr>
      <vt:lpstr>THE OSTHE OOSI security architectureTY ARCHITECTUREI SECURITY ARCHITECTURETHE OSI SECURITY ARCHITECTURE</vt:lpstr>
      <vt:lpstr>PowerPoint Presentation</vt:lpstr>
      <vt:lpstr>PowerPoint Presentation</vt:lpstr>
      <vt:lpstr>Confidentiality: Preserving authorized  restrictions on information access and disclosure, including means for protecting personal privacy and proprietary information. »­Not only applies to the storage of information. It also applies to the transmission of information  Integrity: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Data confidentiality</vt:lpstr>
      <vt:lpstr>PowerPoint Presentation</vt:lpstr>
      <vt:lpstr>PowerPoint Presentation</vt:lpstr>
      <vt:lpstr>Non Repudiation</vt:lpstr>
      <vt:lpstr>Access control</vt:lpstr>
      <vt:lpstr>Security Mechanisms</vt:lpstr>
      <vt:lpstr>Specific Security Mechanisms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Sabi S</dc:creator>
  <cp:lastModifiedBy>Sabi S</cp:lastModifiedBy>
  <cp:revision>3</cp:revision>
  <dcterms:created xsi:type="dcterms:W3CDTF">2022-03-03T09:43:32Z</dcterms:created>
  <dcterms:modified xsi:type="dcterms:W3CDTF">2023-02-08T01:27:40Z</dcterms:modified>
</cp:coreProperties>
</file>